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798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AACD47-2D6E-491F-9C5C-C14CEB6860A9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65D7FC-5967-45DE-8A6B-F659BDA757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3744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5D7FC-5967-45DE-8A6B-F659BDA757C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37873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5D7FC-5967-45DE-8A6B-F659BDA757C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4742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5D7FC-5967-45DE-8A6B-F659BDA757C5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80552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733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3600" b="1" dirty="0" err="1">
                <a:solidFill>
                  <a:srgbClr val="FFFFFF"/>
                </a:solidFill>
                <a:latin typeface="Malgun Gothic"/>
              </a:rPr>
              <a:t>기온에</a:t>
            </a:r>
            <a:r>
              <a:rPr sz="3600" b="1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3600" b="1" dirty="0" err="1">
                <a:solidFill>
                  <a:srgbClr val="FFFFFF"/>
                </a:solidFill>
                <a:latin typeface="Malgun Gothic"/>
              </a:rPr>
              <a:t>따른</a:t>
            </a:r>
            <a:r>
              <a:rPr sz="3600" b="1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3600" b="1" dirty="0" err="1">
                <a:solidFill>
                  <a:srgbClr val="FFFFFF"/>
                </a:solidFill>
                <a:latin typeface="Malgun Gothic"/>
              </a:rPr>
              <a:t>서울시</a:t>
            </a:r>
            <a:r>
              <a:rPr lang="en-US" sz="3600" b="1" dirty="0">
                <a:solidFill>
                  <a:srgbClr val="FFFFFF"/>
                </a:solidFill>
                <a:latin typeface="Malgun Gothic"/>
              </a:rPr>
              <a:t> </a:t>
            </a:r>
            <a:br>
              <a:rPr lang="en-US" sz="3600" b="1" dirty="0">
                <a:solidFill>
                  <a:srgbClr val="FFFFFF"/>
                </a:solidFill>
                <a:latin typeface="Malgun Gothic"/>
              </a:rPr>
            </a:br>
            <a:r>
              <a:rPr lang="en-US" sz="3600" b="1" dirty="0">
                <a:solidFill>
                  <a:srgbClr val="FFFFFF"/>
                </a:solidFill>
                <a:latin typeface="Malgun Gothic"/>
              </a:rPr>
              <a:t>	</a:t>
            </a:r>
            <a:r>
              <a:rPr lang="ko-KR" altLang="en-US" sz="3600" b="1" dirty="0">
                <a:solidFill>
                  <a:schemeClr val="bg1"/>
                </a:solidFill>
                <a:latin typeface="+mj-ea"/>
                <a:ea typeface="+mj-ea"/>
              </a:rPr>
              <a:t>따</a:t>
            </a:r>
            <a:r>
              <a:rPr sz="3600" b="1" dirty="0" err="1">
                <a:solidFill>
                  <a:schemeClr val="bg1"/>
                </a:solidFill>
                <a:latin typeface="+mj-ea"/>
                <a:ea typeface="+mj-ea"/>
              </a:rPr>
              <a:t>릉이</a:t>
            </a:r>
            <a:r>
              <a:rPr sz="3600" b="1" dirty="0">
                <a:solidFill>
                  <a:schemeClr val="bg1"/>
                </a:solidFill>
                <a:latin typeface="+mj-ea"/>
                <a:ea typeface="+mj-ea"/>
              </a:rPr>
              <a:t> 및 </a:t>
            </a:r>
            <a:r>
              <a:rPr sz="3600" b="1" dirty="0" err="1">
                <a:solidFill>
                  <a:schemeClr val="bg1"/>
                </a:solidFill>
                <a:latin typeface="+mj-ea"/>
                <a:ea typeface="+mj-ea"/>
              </a:rPr>
              <a:t>지하철</a:t>
            </a:r>
            <a:r>
              <a:rPr sz="3600" b="1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sz="3600" b="1" dirty="0" err="1">
                <a:solidFill>
                  <a:schemeClr val="bg1"/>
                </a:solidFill>
                <a:latin typeface="+mj-ea"/>
                <a:ea typeface="+mj-ea"/>
              </a:rPr>
              <a:t>이용</a:t>
            </a:r>
            <a:r>
              <a:rPr sz="3600" b="1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sz="3600" b="1" dirty="0" err="1">
                <a:solidFill>
                  <a:schemeClr val="bg1"/>
                </a:solidFill>
                <a:latin typeface="+mj-ea"/>
                <a:ea typeface="+mj-ea"/>
              </a:rPr>
              <a:t>분석</a:t>
            </a:r>
            <a:endParaRPr lang="ko-KR" altLang="en-US" sz="4400" b="1" dirty="0">
              <a:solidFill>
                <a:schemeClr val="bg1"/>
              </a:solidFill>
              <a:latin typeface="+mj-ea"/>
              <a:ea typeface="+mj-ea"/>
            </a:endParaRPr>
          </a:p>
          <a:p>
            <a:r>
              <a:rPr lang="ko-KR" altLang="en-US" dirty="0">
                <a:solidFill>
                  <a:srgbClr val="94A3B8"/>
                </a:solidFill>
                <a:latin typeface="Malgun Gothic"/>
              </a:rPr>
              <a:t>기온이 오르면 서울 시민의 이동수단 이용은 어떻게 달라지는가</a:t>
            </a:r>
            <a:r>
              <a:rPr lang="en-US" altLang="ko-KR" dirty="0">
                <a:solidFill>
                  <a:srgbClr val="94A3B8"/>
                </a:solidFill>
                <a:latin typeface="Malgun Gothic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5486400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</a:rPr>
              <a:t>발표자 </a:t>
            </a:r>
            <a:r>
              <a:rPr lang="en-US" altLang="ko-KR" sz="1400" b="1" dirty="0">
                <a:solidFill>
                  <a:srgbClr val="FFFFFF"/>
                </a:solidFill>
                <a:latin typeface="Malgun Gothic"/>
              </a:rPr>
              <a:t>: </a:t>
            </a:r>
            <a:r>
              <a:rPr sz="1400" b="1" dirty="0" err="1">
                <a:solidFill>
                  <a:srgbClr val="FFFFFF"/>
                </a:solidFill>
                <a:latin typeface="Malgun Gothic"/>
              </a:rPr>
              <a:t>권태윤</a:t>
            </a:r>
            <a:endParaRPr lang="en-US" sz="1400" b="1" dirty="0">
              <a:solidFill>
                <a:srgbClr val="FFFFFF"/>
              </a:solidFill>
              <a:latin typeface="Malgun Gothic"/>
            </a:endParaRPr>
          </a:p>
          <a:p>
            <a:r>
              <a:rPr sz="1200" dirty="0" err="1">
                <a:solidFill>
                  <a:srgbClr val="94A3B8"/>
                </a:solidFill>
                <a:latin typeface="Malgun Gothic"/>
              </a:rPr>
              <a:t>SeSAC</a:t>
            </a:r>
            <a:r>
              <a:rPr sz="1200" dirty="0">
                <a:solidFill>
                  <a:srgbClr val="94A3B8"/>
                </a:solidFill>
                <a:latin typeface="Malgun Gothic"/>
              </a:rPr>
              <a:t> |  </a:t>
            </a:r>
            <a:r>
              <a:rPr sz="1200" dirty="0" err="1">
                <a:solidFill>
                  <a:srgbClr val="94A3B8"/>
                </a:solidFill>
                <a:latin typeface="Malgun Gothic"/>
              </a:rPr>
              <a:t>AI서비스</a:t>
            </a:r>
            <a:r>
              <a:rPr sz="1200" dirty="0">
                <a:solidFill>
                  <a:srgbClr val="94A3B8"/>
                </a:solidFill>
                <a:latin typeface="Malgun Gothic"/>
              </a:rPr>
              <a:t> </a:t>
            </a:r>
            <a:r>
              <a:rPr sz="1200" dirty="0" err="1">
                <a:solidFill>
                  <a:srgbClr val="94A3B8"/>
                </a:solidFill>
                <a:latin typeface="Malgun Gothic"/>
              </a:rPr>
              <a:t>운영을</a:t>
            </a:r>
            <a:r>
              <a:rPr sz="1200" dirty="0">
                <a:solidFill>
                  <a:srgbClr val="94A3B8"/>
                </a:solidFill>
                <a:latin typeface="Malgun Gothic"/>
              </a:rPr>
              <a:t> </a:t>
            </a:r>
            <a:r>
              <a:rPr sz="1200" dirty="0" err="1">
                <a:solidFill>
                  <a:srgbClr val="94A3B8"/>
                </a:solidFill>
                <a:latin typeface="Malgun Gothic"/>
              </a:rPr>
              <a:t>위한</a:t>
            </a:r>
            <a:r>
              <a:rPr sz="1200" dirty="0">
                <a:solidFill>
                  <a:srgbClr val="94A3B8"/>
                </a:solidFill>
                <a:latin typeface="Malgun Gothic"/>
              </a:rPr>
              <a:t> </a:t>
            </a:r>
            <a:r>
              <a:rPr sz="1200" dirty="0" err="1">
                <a:solidFill>
                  <a:srgbClr val="94A3B8"/>
                </a:solidFill>
                <a:latin typeface="Malgun Gothic"/>
              </a:rPr>
              <a:t>클라우드</a:t>
            </a:r>
            <a:r>
              <a:rPr sz="1200" dirty="0">
                <a:solidFill>
                  <a:srgbClr val="94A3B8"/>
                </a:solidFill>
                <a:latin typeface="Malgun Gothic"/>
              </a:rPr>
              <a:t> </a:t>
            </a:r>
            <a:r>
              <a:rPr sz="1200" dirty="0" err="1">
                <a:solidFill>
                  <a:srgbClr val="94A3B8"/>
                </a:solidFill>
                <a:latin typeface="Malgun Gothic"/>
              </a:rPr>
              <a:t>데이터</a:t>
            </a:r>
            <a:r>
              <a:rPr sz="1200" dirty="0">
                <a:solidFill>
                  <a:srgbClr val="94A3B8"/>
                </a:solidFill>
                <a:latin typeface="Malgun Gothic"/>
              </a:rPr>
              <a:t> </a:t>
            </a:r>
            <a:r>
              <a:rPr sz="1200" dirty="0" err="1">
                <a:solidFill>
                  <a:srgbClr val="94A3B8"/>
                </a:solidFill>
                <a:latin typeface="Malgun Gothic"/>
              </a:rPr>
              <a:t>엔지니어</a:t>
            </a:r>
            <a:r>
              <a:rPr sz="1200" dirty="0">
                <a:solidFill>
                  <a:srgbClr val="94A3B8"/>
                </a:solidFill>
                <a:latin typeface="Malgun Gothic"/>
              </a:rPr>
              <a:t> </a:t>
            </a:r>
            <a:r>
              <a:rPr sz="1200" dirty="0" err="1">
                <a:solidFill>
                  <a:srgbClr val="94A3B8"/>
                </a:solidFill>
                <a:latin typeface="Malgun Gothic"/>
              </a:rPr>
              <a:t>과정</a:t>
            </a:r>
            <a:endParaRPr sz="1200" dirty="0">
              <a:solidFill>
                <a:srgbClr val="94A3B8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Malgun Gothic"/>
              </a:rPr>
              <a:t>발표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Malgun Gothic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Malgun Gothi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0116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173736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1" dirty="0">
                <a:solidFill>
                  <a:srgbClr val="15803D"/>
                </a:solidFill>
                <a:latin typeface="Malgun Gothic"/>
              </a:rPr>
              <a:t>01</a:t>
            </a:r>
          </a:p>
          <a:p>
            <a:pPr>
              <a:spcAft>
                <a:spcPts val="1000"/>
              </a:spcAft>
            </a:pPr>
            <a:r>
              <a:rPr sz="1400" b="1" dirty="0" err="1">
                <a:solidFill>
                  <a:srgbClr val="0F172A"/>
                </a:solidFill>
                <a:latin typeface="Malgun Gothic"/>
              </a:rPr>
              <a:t>분석</a:t>
            </a:r>
            <a:r>
              <a:rPr sz="1400" b="1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0F172A"/>
                </a:solidFill>
                <a:latin typeface="Malgun Gothic"/>
              </a:rPr>
              <a:t>배경</a:t>
            </a:r>
            <a:r>
              <a:rPr sz="1400" b="1" dirty="0">
                <a:solidFill>
                  <a:srgbClr val="0F172A"/>
                </a:solidFill>
                <a:latin typeface="Malgun Gothic"/>
              </a:rPr>
              <a:t> 및 </a:t>
            </a:r>
            <a:r>
              <a:rPr sz="1400" b="1" dirty="0" err="1">
                <a:solidFill>
                  <a:srgbClr val="0F172A"/>
                </a:solidFill>
                <a:latin typeface="Malgun Gothic"/>
              </a:rPr>
              <a:t>목표</a:t>
            </a:r>
            <a:endParaRPr sz="1400" b="1" dirty="0">
              <a:solidFill>
                <a:srgbClr val="0F172A"/>
              </a:solidFill>
              <a:latin typeface="Malgun Gothic"/>
            </a:endParaRPr>
          </a:p>
          <a:p>
            <a:endParaRPr lang="en-US" sz="1100" dirty="0">
              <a:solidFill>
                <a:srgbClr val="64748B"/>
              </a:solidFill>
              <a:latin typeface="Malgun Gothic"/>
            </a:endParaRPr>
          </a:p>
          <a:p>
            <a:r>
              <a:rPr sz="1100" dirty="0" err="1">
                <a:solidFill>
                  <a:srgbClr val="64748B"/>
                </a:solidFill>
                <a:latin typeface="Malgun Gothic"/>
              </a:rPr>
              <a:t>문제</a:t>
            </a:r>
            <a:r>
              <a:rPr sz="1100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Malgun Gothic"/>
              </a:rPr>
              <a:t>제기</a:t>
            </a:r>
            <a:r>
              <a:rPr sz="1100" dirty="0">
                <a:solidFill>
                  <a:srgbClr val="64748B"/>
                </a:solidFill>
                <a:latin typeface="Malgun Gothic"/>
              </a:rPr>
              <a:t> 및</a:t>
            </a:r>
            <a:br>
              <a:rPr lang="en-US" sz="1100" dirty="0">
                <a:solidFill>
                  <a:srgbClr val="64748B"/>
                </a:solidFill>
                <a:latin typeface="Malgun Gothic"/>
              </a:rPr>
            </a:br>
            <a:r>
              <a:rPr sz="1100" dirty="0" err="1">
                <a:solidFill>
                  <a:srgbClr val="64748B"/>
                </a:solidFill>
                <a:latin typeface="Malgun Gothic"/>
              </a:rPr>
              <a:t>기상환경</a:t>
            </a:r>
            <a:r>
              <a:rPr sz="1100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Malgun Gothic"/>
              </a:rPr>
              <a:t>변화</a:t>
            </a:r>
            <a:r>
              <a:rPr sz="1100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Malgun Gothic"/>
              </a:rPr>
              <a:t>대응</a:t>
            </a:r>
            <a:r>
              <a:rPr sz="1100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Malgun Gothic"/>
              </a:rPr>
              <a:t>기획</a:t>
            </a:r>
            <a:endParaRPr sz="1100" dirty="0">
              <a:solidFill>
                <a:srgbClr val="64748B"/>
              </a:solidFill>
              <a:latin typeface="Malgun Gothic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743200" y="2011680"/>
            <a:ext cx="20116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360" y="2194560"/>
            <a:ext cx="1737360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1" dirty="0">
                <a:solidFill>
                  <a:srgbClr val="15803D"/>
                </a:solidFill>
                <a:latin typeface="Malgun Gothic"/>
              </a:rPr>
              <a:t>02</a:t>
            </a:r>
          </a:p>
          <a:p>
            <a:pPr>
              <a:spcAft>
                <a:spcPts val="1000"/>
              </a:spcAft>
            </a:pPr>
            <a:r>
              <a:rPr sz="1600" b="1" dirty="0" err="1">
                <a:solidFill>
                  <a:srgbClr val="0F172A"/>
                </a:solidFill>
                <a:latin typeface="Malgun Gothic"/>
              </a:rPr>
              <a:t>활용데이터</a:t>
            </a:r>
            <a:br>
              <a:rPr lang="en-US" sz="1600" b="1" dirty="0">
                <a:solidFill>
                  <a:srgbClr val="0F172A"/>
                </a:solidFill>
                <a:latin typeface="Malgun Gothic"/>
              </a:rPr>
            </a:br>
            <a:r>
              <a:rPr lang="en-US" sz="1600" b="1" dirty="0">
                <a:solidFill>
                  <a:srgbClr val="0F172A"/>
                </a:solidFill>
                <a:latin typeface="Malgun Gothic"/>
              </a:rPr>
              <a:t>	</a:t>
            </a:r>
            <a:r>
              <a:rPr sz="1600" b="1" dirty="0">
                <a:solidFill>
                  <a:srgbClr val="0F172A"/>
                </a:solidFill>
                <a:latin typeface="Malgun Gothic"/>
              </a:rPr>
              <a:t>및 </a:t>
            </a:r>
            <a:r>
              <a:rPr sz="1600" b="1" dirty="0" err="1">
                <a:solidFill>
                  <a:srgbClr val="0F172A"/>
                </a:solidFill>
                <a:latin typeface="Malgun Gothic"/>
              </a:rPr>
              <a:t>전처리</a:t>
            </a:r>
            <a:endParaRPr sz="1600" b="1" dirty="0">
              <a:solidFill>
                <a:srgbClr val="0F172A"/>
              </a:solidFill>
              <a:latin typeface="Malgun Gothic"/>
            </a:endParaRPr>
          </a:p>
          <a:p>
            <a:r>
              <a:rPr sz="1100" dirty="0">
                <a:solidFill>
                  <a:srgbClr val="64748B"/>
                </a:solidFill>
                <a:latin typeface="Malgun Gothic"/>
              </a:rPr>
              <a:t>ASOS </a:t>
            </a:r>
            <a:r>
              <a:rPr sz="1100" dirty="0" err="1">
                <a:solidFill>
                  <a:srgbClr val="64748B"/>
                </a:solidFill>
                <a:latin typeface="Malgun Gothic"/>
              </a:rPr>
              <a:t>기온</a:t>
            </a:r>
            <a:r>
              <a:rPr sz="1100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Malgun Gothic"/>
              </a:rPr>
              <a:t>정보</a:t>
            </a:r>
            <a:r>
              <a:rPr sz="1100" dirty="0">
                <a:solidFill>
                  <a:srgbClr val="64748B"/>
                </a:solidFill>
                <a:latin typeface="Malgun Gothic"/>
              </a:rPr>
              <a:t> 및 </a:t>
            </a:r>
            <a:br>
              <a:rPr lang="en-US" sz="1100" dirty="0">
                <a:solidFill>
                  <a:srgbClr val="64748B"/>
                </a:solidFill>
                <a:latin typeface="Malgun Gothic"/>
              </a:rPr>
            </a:br>
            <a:r>
              <a:rPr sz="1100" dirty="0" err="1">
                <a:solidFill>
                  <a:srgbClr val="64748B"/>
                </a:solidFill>
                <a:latin typeface="Malgun Gothic"/>
              </a:rPr>
              <a:t>교통수단</a:t>
            </a:r>
            <a:r>
              <a:rPr sz="1100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Malgun Gothic"/>
              </a:rPr>
              <a:t>데이터</a:t>
            </a:r>
            <a:r>
              <a:rPr sz="1100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Malgun Gothic"/>
              </a:rPr>
              <a:t>정합</a:t>
            </a:r>
            <a:endParaRPr sz="1100" dirty="0">
              <a:solidFill>
                <a:srgbClr val="64748B"/>
              </a:solidFill>
              <a:latin typeface="Malgun Gothic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937760" y="2011680"/>
            <a:ext cx="20116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74920" y="2194560"/>
            <a:ext cx="1737360" cy="15850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1" dirty="0">
                <a:solidFill>
                  <a:srgbClr val="15803D"/>
                </a:solidFill>
                <a:latin typeface="Malgun Gothic"/>
              </a:rPr>
              <a:t>03</a:t>
            </a:r>
          </a:p>
          <a:p>
            <a:pPr>
              <a:spcAft>
                <a:spcPts val="1000"/>
              </a:spcAft>
            </a:pPr>
            <a:r>
              <a:rPr sz="1600" b="1" dirty="0" err="1">
                <a:solidFill>
                  <a:srgbClr val="0F172A"/>
                </a:solidFill>
                <a:latin typeface="Malgun Gothic"/>
              </a:rPr>
              <a:t>기본</a:t>
            </a:r>
            <a:r>
              <a:rPr sz="1600" b="1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0F172A"/>
                </a:solidFill>
                <a:latin typeface="Malgun Gothic"/>
              </a:rPr>
              <a:t>이용</a:t>
            </a:r>
            <a:r>
              <a:rPr sz="1600" b="1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0F172A"/>
                </a:solidFill>
                <a:latin typeface="Malgun Gothic"/>
              </a:rPr>
              <a:t>패턴</a:t>
            </a:r>
            <a:endParaRPr sz="1600" b="1" dirty="0">
              <a:solidFill>
                <a:srgbClr val="0F172A"/>
              </a:solidFill>
              <a:latin typeface="Malgun Gothic"/>
            </a:endParaRPr>
          </a:p>
          <a:p>
            <a:endParaRPr lang="en-US" sz="1100" dirty="0">
              <a:solidFill>
                <a:srgbClr val="64748B"/>
              </a:solidFill>
              <a:latin typeface="Malgun Gothic"/>
            </a:endParaRPr>
          </a:p>
          <a:p>
            <a:r>
              <a:rPr sz="1100" dirty="0" err="1">
                <a:solidFill>
                  <a:srgbClr val="64748B"/>
                </a:solidFill>
                <a:latin typeface="Malgun Gothic"/>
              </a:rPr>
              <a:t>월별</a:t>
            </a:r>
            <a:r>
              <a:rPr sz="1100" dirty="0">
                <a:solidFill>
                  <a:srgbClr val="64748B"/>
                </a:solidFill>
                <a:latin typeface="Malgun Gothic"/>
              </a:rPr>
              <a:t> 및 </a:t>
            </a:r>
            <a:r>
              <a:rPr sz="1100" dirty="0" err="1">
                <a:solidFill>
                  <a:srgbClr val="64748B"/>
                </a:solidFill>
                <a:latin typeface="Malgun Gothic"/>
              </a:rPr>
              <a:t>시간대별</a:t>
            </a:r>
            <a:r>
              <a:rPr sz="1100" dirty="0">
                <a:solidFill>
                  <a:srgbClr val="64748B"/>
                </a:solidFill>
                <a:latin typeface="Malgun Gothic"/>
              </a:rPr>
              <a:t> </a:t>
            </a:r>
            <a:br>
              <a:rPr lang="en-US" sz="1100" dirty="0">
                <a:solidFill>
                  <a:srgbClr val="64748B"/>
                </a:solidFill>
                <a:latin typeface="Malgun Gothic"/>
              </a:rPr>
            </a:br>
            <a:r>
              <a:rPr sz="1100" dirty="0" err="1">
                <a:solidFill>
                  <a:srgbClr val="64748B"/>
                </a:solidFill>
                <a:latin typeface="Malgun Gothic"/>
              </a:rPr>
              <a:t>대중교통</a:t>
            </a:r>
            <a:r>
              <a:rPr sz="1100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Malgun Gothic"/>
              </a:rPr>
              <a:t>이용</a:t>
            </a:r>
            <a:r>
              <a:rPr sz="1100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Malgun Gothic"/>
              </a:rPr>
              <a:t>구조</a:t>
            </a:r>
            <a:r>
              <a:rPr sz="1100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Malgun Gothic"/>
              </a:rPr>
              <a:t>파악</a:t>
            </a:r>
            <a:endParaRPr sz="1100" dirty="0">
              <a:solidFill>
                <a:srgbClr val="64748B"/>
              </a:solidFill>
              <a:latin typeface="Malgun Gothic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132320" y="2011680"/>
            <a:ext cx="20116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269480" y="2194560"/>
            <a:ext cx="1737360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1" dirty="0">
                <a:solidFill>
                  <a:srgbClr val="15803D"/>
                </a:solidFill>
                <a:latin typeface="Malgun Gothic"/>
              </a:rPr>
              <a:t>04</a:t>
            </a:r>
          </a:p>
          <a:p>
            <a:pPr>
              <a:spcAft>
                <a:spcPts val="1000"/>
              </a:spcAft>
            </a:pPr>
            <a:r>
              <a:rPr sz="1600" b="1" dirty="0" err="1">
                <a:solidFill>
                  <a:srgbClr val="0F172A"/>
                </a:solidFill>
                <a:latin typeface="Malgun Gothic"/>
              </a:rPr>
              <a:t>기온-이용량</a:t>
            </a:r>
            <a:r>
              <a:rPr sz="1600" b="1" dirty="0">
                <a:solidFill>
                  <a:srgbClr val="0F172A"/>
                </a:solidFill>
                <a:latin typeface="Malgun Gothic"/>
              </a:rPr>
              <a:t> </a:t>
            </a:r>
            <a:br>
              <a:rPr lang="en-US" sz="1600" b="1" dirty="0">
                <a:solidFill>
                  <a:srgbClr val="0F172A"/>
                </a:solidFill>
                <a:latin typeface="Malgun Gothic"/>
              </a:rPr>
            </a:br>
            <a:r>
              <a:rPr lang="en-US" sz="1600" b="1" dirty="0">
                <a:solidFill>
                  <a:srgbClr val="0F172A"/>
                </a:solidFill>
                <a:latin typeface="Malgun Gothic"/>
              </a:rPr>
              <a:t>	</a:t>
            </a:r>
            <a:r>
              <a:rPr sz="1600" b="1" dirty="0" err="1">
                <a:solidFill>
                  <a:srgbClr val="0F172A"/>
                </a:solidFill>
                <a:latin typeface="Malgun Gothic"/>
              </a:rPr>
              <a:t>관계</a:t>
            </a:r>
            <a:r>
              <a:rPr sz="1600" b="1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0F172A"/>
                </a:solidFill>
                <a:latin typeface="Malgun Gothic"/>
              </a:rPr>
              <a:t>분석</a:t>
            </a:r>
            <a:endParaRPr sz="1600" b="1" dirty="0">
              <a:solidFill>
                <a:srgbClr val="0F172A"/>
              </a:solidFill>
              <a:latin typeface="Malgun Gothic"/>
            </a:endParaRPr>
          </a:p>
          <a:p>
            <a:r>
              <a:rPr sz="1100" dirty="0" err="1">
                <a:solidFill>
                  <a:srgbClr val="64748B"/>
                </a:solidFill>
                <a:latin typeface="Malgun Gothic"/>
              </a:rPr>
              <a:t>상관분석</a:t>
            </a:r>
            <a:r>
              <a:rPr sz="1100" dirty="0">
                <a:solidFill>
                  <a:srgbClr val="64748B"/>
                </a:solidFill>
                <a:latin typeface="Malgun Gothic"/>
              </a:rPr>
              <a:t> 및 </a:t>
            </a:r>
            <a:r>
              <a:rPr sz="1100" dirty="0" err="1">
                <a:solidFill>
                  <a:srgbClr val="64748B"/>
                </a:solidFill>
                <a:latin typeface="Malgun Gothic"/>
              </a:rPr>
              <a:t>기온</a:t>
            </a:r>
            <a:r>
              <a:rPr sz="1100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Malgun Gothic"/>
              </a:rPr>
              <a:t>구간별</a:t>
            </a:r>
            <a:r>
              <a:rPr sz="1100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Malgun Gothic"/>
              </a:rPr>
              <a:t>승차</a:t>
            </a:r>
            <a:r>
              <a:rPr sz="1100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Malgun Gothic"/>
              </a:rPr>
              <a:t>추이</a:t>
            </a:r>
            <a:endParaRPr sz="1100" dirty="0">
              <a:solidFill>
                <a:srgbClr val="64748B"/>
              </a:solidFill>
              <a:latin typeface="Malgun Gothic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326880" y="2011680"/>
            <a:ext cx="20116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464040" y="2194560"/>
            <a:ext cx="1737360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1" dirty="0">
                <a:solidFill>
                  <a:srgbClr val="15803D"/>
                </a:solidFill>
                <a:latin typeface="Malgun Gothic"/>
              </a:rPr>
              <a:t>05</a:t>
            </a:r>
          </a:p>
          <a:p>
            <a:pPr algn="ctr">
              <a:spcAft>
                <a:spcPts val="1000"/>
              </a:spcAft>
            </a:pPr>
            <a:r>
              <a:rPr sz="1600" b="1" dirty="0" err="1">
                <a:solidFill>
                  <a:srgbClr val="0F172A"/>
                </a:solidFill>
                <a:latin typeface="Malgun Gothic"/>
              </a:rPr>
              <a:t>결론</a:t>
            </a:r>
            <a:r>
              <a:rPr lang="en-US" sz="1600" b="1" dirty="0">
                <a:solidFill>
                  <a:srgbClr val="0F172A"/>
                </a:solidFill>
                <a:latin typeface="Malgun Gothic"/>
              </a:rPr>
              <a:t> </a:t>
            </a:r>
            <a:r>
              <a:rPr lang="en-US" altLang="ko-KR" sz="1600" b="1" dirty="0">
                <a:solidFill>
                  <a:srgbClr val="0F172A"/>
                </a:solidFill>
                <a:latin typeface="Malgun Gothic"/>
              </a:rPr>
              <a:t>• </a:t>
            </a:r>
            <a:r>
              <a:rPr sz="1600" b="1" dirty="0" err="1">
                <a:solidFill>
                  <a:srgbClr val="0F172A"/>
                </a:solidFill>
                <a:latin typeface="Malgun Gothic"/>
              </a:rPr>
              <a:t>기대효과</a:t>
            </a:r>
            <a:br>
              <a:rPr lang="en-US" sz="1600" b="1" dirty="0">
                <a:solidFill>
                  <a:srgbClr val="0F172A"/>
                </a:solidFill>
                <a:latin typeface="Malgun Gothic"/>
              </a:rPr>
            </a:br>
            <a:r>
              <a:rPr lang="en-US" altLang="ko-KR" sz="1600" b="1" dirty="0">
                <a:solidFill>
                  <a:srgbClr val="0F172A"/>
                </a:solidFill>
                <a:latin typeface="Malgun Gothic"/>
              </a:rPr>
              <a:t>• </a:t>
            </a:r>
            <a:r>
              <a:rPr sz="1600" b="1" dirty="0" err="1">
                <a:solidFill>
                  <a:srgbClr val="0F172A"/>
                </a:solidFill>
                <a:latin typeface="Malgun Gothic"/>
              </a:rPr>
              <a:t>한계</a:t>
            </a:r>
            <a:endParaRPr sz="1600" b="1" dirty="0">
              <a:solidFill>
                <a:srgbClr val="0F172A"/>
              </a:solidFill>
              <a:latin typeface="Malgun Gothic"/>
            </a:endParaRPr>
          </a:p>
          <a:p>
            <a:r>
              <a:rPr sz="1100" dirty="0" err="1">
                <a:solidFill>
                  <a:srgbClr val="64748B"/>
                </a:solidFill>
                <a:latin typeface="Malgun Gothic"/>
              </a:rPr>
              <a:t>핵심</a:t>
            </a:r>
            <a:r>
              <a:rPr sz="1100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Malgun Gothic"/>
              </a:rPr>
              <a:t>결과</a:t>
            </a:r>
            <a:r>
              <a:rPr sz="1100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Malgun Gothic"/>
              </a:rPr>
              <a:t>도출</a:t>
            </a:r>
            <a:r>
              <a:rPr sz="1100" dirty="0">
                <a:solidFill>
                  <a:srgbClr val="64748B"/>
                </a:solidFill>
                <a:latin typeface="Malgun Gothic"/>
              </a:rPr>
              <a:t> 및 </a:t>
            </a:r>
            <a:br>
              <a:rPr lang="en-US" sz="1100" dirty="0">
                <a:solidFill>
                  <a:srgbClr val="64748B"/>
                </a:solidFill>
                <a:latin typeface="Malgun Gothic"/>
              </a:rPr>
            </a:br>
            <a:r>
              <a:rPr sz="1100" dirty="0" err="1">
                <a:solidFill>
                  <a:srgbClr val="64748B"/>
                </a:solidFill>
                <a:latin typeface="Malgun Gothic"/>
              </a:rPr>
              <a:t>향후</a:t>
            </a:r>
            <a:r>
              <a:rPr sz="1100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Malgun Gothic"/>
              </a:rPr>
              <a:t>분석</a:t>
            </a:r>
            <a:r>
              <a:rPr sz="1100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Malgun Gothic"/>
              </a:rPr>
              <a:t>확장</a:t>
            </a:r>
            <a:r>
              <a:rPr sz="1100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Malgun Gothic"/>
              </a:rPr>
              <a:t>제언</a:t>
            </a:r>
            <a:endParaRPr sz="1100" dirty="0">
              <a:solidFill>
                <a:srgbClr val="64748B"/>
              </a:solidFill>
              <a:latin typeface="Malgun Gothic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48640" y="576072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E40AF"/>
                </a:solidFill>
                <a:latin typeface="Malgun Gothic"/>
              </a:rPr>
              <a:t>문제 제기  →  데이터  →  전처리  →  기본 패턴  →  관계 분석  →  결론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Malgun Gothic"/>
              </a:rPr>
              <a:t>01 분석 배경 및 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Malgun Gothic"/>
              </a:rPr>
              <a:t>왜 기온과 이동수단을 비교했는가?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Malgun Gothi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dirty="0" err="1">
                <a:solidFill>
                  <a:srgbClr val="15803D"/>
                </a:solidFill>
                <a:latin typeface="Malgun Gothic"/>
              </a:rPr>
              <a:t>관심</a:t>
            </a:r>
            <a:r>
              <a:rPr sz="1600" b="1" dirty="0">
                <a:solidFill>
                  <a:srgbClr val="15803D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15803D"/>
                </a:solidFill>
                <a:latin typeface="Malgun Gothic"/>
              </a:rPr>
              <a:t>배경</a:t>
            </a:r>
            <a:endParaRPr sz="1600" b="1" dirty="0">
              <a:solidFill>
                <a:srgbClr val="15803D"/>
              </a:solidFill>
              <a:latin typeface="Malgun Gothic"/>
            </a:endParaRPr>
          </a:p>
          <a:p>
            <a:r>
              <a:rPr sz="1400" dirty="0" err="1">
                <a:solidFill>
                  <a:srgbClr val="0F172A"/>
                </a:solidFill>
                <a:latin typeface="Malgun Gothic"/>
              </a:rPr>
              <a:t>최근</a:t>
            </a:r>
            <a:r>
              <a:rPr sz="14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400" dirty="0" err="1">
                <a:solidFill>
                  <a:srgbClr val="0F172A"/>
                </a:solidFill>
                <a:latin typeface="Malgun Gothic"/>
              </a:rPr>
              <a:t>여름철</a:t>
            </a:r>
            <a:r>
              <a:rPr sz="14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400" dirty="0" err="1">
                <a:solidFill>
                  <a:srgbClr val="0F172A"/>
                </a:solidFill>
                <a:latin typeface="Malgun Gothic"/>
              </a:rPr>
              <a:t>고온</a:t>
            </a:r>
            <a:r>
              <a:rPr sz="1400" dirty="0">
                <a:solidFill>
                  <a:srgbClr val="0F172A"/>
                </a:solidFill>
                <a:latin typeface="Malgun Gothic"/>
              </a:rPr>
              <a:t> 등 </a:t>
            </a:r>
            <a:r>
              <a:rPr sz="1400" dirty="0" err="1">
                <a:solidFill>
                  <a:srgbClr val="0F172A"/>
                </a:solidFill>
                <a:latin typeface="Malgun Gothic"/>
              </a:rPr>
              <a:t>기상환경</a:t>
            </a:r>
            <a:r>
              <a:rPr sz="14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400" dirty="0" err="1">
                <a:solidFill>
                  <a:srgbClr val="0F172A"/>
                </a:solidFill>
                <a:latin typeface="Malgun Gothic"/>
              </a:rPr>
              <a:t>변화가</a:t>
            </a:r>
            <a:br>
              <a:rPr dirty="0"/>
            </a:br>
            <a:r>
              <a:rPr dirty="0" err="1"/>
              <a:t>시민</a:t>
            </a:r>
            <a:r>
              <a:rPr dirty="0"/>
              <a:t> </a:t>
            </a:r>
            <a:r>
              <a:rPr dirty="0" err="1"/>
              <a:t>이동에</a:t>
            </a:r>
            <a:r>
              <a:rPr dirty="0"/>
              <a:t> </a:t>
            </a:r>
            <a:r>
              <a:rPr dirty="0" err="1"/>
              <a:t>미치는</a:t>
            </a:r>
            <a:r>
              <a:rPr dirty="0"/>
              <a:t> </a:t>
            </a:r>
            <a:r>
              <a:rPr dirty="0" err="1"/>
              <a:t>영향에</a:t>
            </a:r>
            <a:r>
              <a:rPr dirty="0"/>
              <a:t> </a:t>
            </a:r>
            <a:r>
              <a:rPr dirty="0" err="1"/>
              <a:t>관심</a:t>
            </a: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548640" y="39319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5803D"/>
                </a:solidFill>
                <a:latin typeface="Malgun Gothic"/>
              </a:rPr>
              <a:t>분석 관점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5803D"/>
                </a:solidFill>
                <a:latin typeface="Malgun Gothic"/>
              </a:rPr>
              <a:t>• 따릉이 = 외부 환경에 직접 노출</a:t>
            </a:r>
          </a:p>
          <a:p>
            <a:r>
              <a:rPr sz="1400" b="1">
                <a:solidFill>
                  <a:srgbClr val="1E40AF"/>
                </a:solidFill>
                <a:latin typeface="Malgun Gothic"/>
              </a:rPr>
              <a:t>• 지하철 = 상대적으로 실내 이동수단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3949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201168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800" b="1" dirty="0" err="1">
                <a:solidFill>
                  <a:srgbClr val="F59E0B"/>
                </a:solidFill>
                <a:latin typeface="Malgun Gothic"/>
              </a:rPr>
              <a:t>핵심</a:t>
            </a:r>
            <a:r>
              <a:rPr sz="1800" b="1" dirty="0">
                <a:solidFill>
                  <a:srgbClr val="F59E0B"/>
                </a:solidFill>
                <a:latin typeface="Malgun Gothic"/>
              </a:rPr>
              <a:t> </a:t>
            </a:r>
            <a:r>
              <a:rPr sz="1800" b="1" dirty="0" err="1">
                <a:solidFill>
                  <a:srgbClr val="F59E0B"/>
                </a:solidFill>
                <a:latin typeface="Malgun Gothic"/>
              </a:rPr>
              <a:t>질문</a:t>
            </a:r>
            <a:endParaRPr sz="1800" b="1" dirty="0">
              <a:solidFill>
                <a:srgbClr val="F59E0B"/>
              </a:solidFill>
              <a:latin typeface="Malgun Gothic"/>
            </a:endParaRPr>
          </a:p>
          <a:p>
            <a:pPr>
              <a:spcAft>
                <a:spcPts val="3000"/>
              </a:spcAft>
            </a:pPr>
            <a:r>
              <a:rPr sz="2200" b="1" dirty="0" err="1">
                <a:solidFill>
                  <a:srgbClr val="0F172A"/>
                </a:solidFill>
                <a:latin typeface="Malgun Gothic"/>
              </a:rPr>
              <a:t>기온</a:t>
            </a:r>
            <a:r>
              <a:rPr sz="2200" b="1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2200" b="1" dirty="0" err="1">
                <a:solidFill>
                  <a:srgbClr val="0F172A"/>
                </a:solidFill>
                <a:latin typeface="Malgun Gothic"/>
              </a:rPr>
              <a:t>변화에</a:t>
            </a:r>
            <a:r>
              <a:rPr sz="2200" b="1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2200" b="1" dirty="0" err="1">
                <a:solidFill>
                  <a:srgbClr val="0F172A"/>
                </a:solidFill>
                <a:latin typeface="Malgun Gothic"/>
              </a:rPr>
              <a:t>따라</a:t>
            </a:r>
            <a:br>
              <a:rPr dirty="0"/>
            </a:br>
            <a:r>
              <a:rPr dirty="0" err="1"/>
              <a:t>따릉이와</a:t>
            </a:r>
            <a:r>
              <a:rPr dirty="0"/>
              <a:t> </a:t>
            </a:r>
            <a:r>
              <a:rPr dirty="0" err="1"/>
              <a:t>지하철의</a:t>
            </a:r>
            <a:r>
              <a:rPr dirty="0"/>
              <a:t> </a:t>
            </a:r>
            <a:r>
              <a:rPr dirty="0" err="1"/>
              <a:t>이용</a:t>
            </a:r>
            <a:r>
              <a:rPr dirty="0"/>
              <a:t> </a:t>
            </a:r>
            <a:r>
              <a:rPr dirty="0" err="1"/>
              <a:t>패턴은</a:t>
            </a:r>
            <a:br>
              <a:rPr dirty="0"/>
            </a:br>
            <a:r>
              <a:rPr dirty="0" err="1"/>
              <a:t>어떻게</a:t>
            </a:r>
            <a:r>
              <a:rPr dirty="0"/>
              <a:t> </a:t>
            </a:r>
            <a:r>
              <a:rPr dirty="0" err="1"/>
              <a:t>달라지는가</a:t>
            </a:r>
            <a:r>
              <a:rPr dirty="0"/>
              <a:t>?</a:t>
            </a:r>
          </a:p>
          <a:p>
            <a:r>
              <a:rPr sz="1600" b="1" dirty="0">
                <a:solidFill>
                  <a:srgbClr val="1E40AF"/>
                </a:solidFill>
                <a:latin typeface="Malgun Gothic"/>
              </a:rPr>
              <a:t>두 </a:t>
            </a:r>
            <a:r>
              <a:rPr sz="1600" b="1" dirty="0" err="1">
                <a:solidFill>
                  <a:srgbClr val="1E40AF"/>
                </a:solidFill>
                <a:latin typeface="Malgun Gothic"/>
              </a:rPr>
              <a:t>교통수단의</a:t>
            </a:r>
            <a:r>
              <a:rPr sz="1600" b="1" dirty="0">
                <a:solidFill>
                  <a:srgbClr val="1E40AF"/>
                </a:solidFill>
                <a:latin typeface="Malgun Gothic"/>
              </a:rPr>
              <a:t> ‘</a:t>
            </a:r>
            <a:r>
              <a:rPr sz="1600" b="1" dirty="0" err="1">
                <a:solidFill>
                  <a:srgbClr val="1E40AF"/>
                </a:solidFill>
                <a:latin typeface="Malgun Gothic"/>
              </a:rPr>
              <a:t>기온</a:t>
            </a:r>
            <a:r>
              <a:rPr sz="16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Malgun Gothic"/>
              </a:rPr>
              <a:t>반응</a:t>
            </a:r>
            <a:r>
              <a:rPr sz="16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Malgun Gothic"/>
              </a:rPr>
              <a:t>차이’를</a:t>
            </a:r>
            <a:r>
              <a:rPr sz="16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Malgun Gothic"/>
              </a:rPr>
              <a:t>비교</a:t>
            </a:r>
            <a:endParaRPr sz="1600" b="1" dirty="0">
              <a:solidFill>
                <a:srgbClr val="1E40AF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Malgun Gothic"/>
              </a:rPr>
              <a:t>01 분석 배경 및 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Malgun Gothic"/>
              </a:rPr>
              <a:t>분석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Malgun Gothi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5803D"/>
                </a:solidFill>
                <a:latin typeface="Malgun Gothic"/>
              </a:rPr>
              <a:t>01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Malgun Gothic"/>
              </a:rPr>
              <a:t>기본 이용 패턴</a:t>
            </a:r>
          </a:p>
          <a:p>
            <a:r>
              <a:rPr sz="1300">
                <a:solidFill>
                  <a:srgbClr val="64748B"/>
                </a:solidFill>
                <a:latin typeface="Malgun Gothic"/>
              </a:rPr>
              <a:t>월별·시간대별 이용량 구조를 먼저 확인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E40AF"/>
                </a:solidFill>
                <a:latin typeface="Malgun Gothic"/>
              </a:rPr>
              <a:t>02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Malgun Gothic"/>
              </a:rPr>
              <a:t>기온과 이용량</a:t>
            </a:r>
          </a:p>
          <a:p>
            <a:r>
              <a:rPr sz="1300">
                <a:solidFill>
                  <a:srgbClr val="64748B"/>
                </a:solidFill>
                <a:latin typeface="Malgun Gothic"/>
              </a:rPr>
              <a:t>기온 구간별 이용량이 어떻게 달라지는지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420624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F59E0B"/>
                </a:solidFill>
                <a:latin typeface="Malgun Gothic"/>
              </a:rPr>
              <a:t>03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Malgun Gothic"/>
              </a:rPr>
              <a:t>시간대별 관계</a:t>
            </a:r>
          </a:p>
          <a:p>
            <a:r>
              <a:rPr sz="1300">
                <a:solidFill>
                  <a:srgbClr val="64748B"/>
                </a:solidFill>
                <a:latin typeface="Malgun Gothic"/>
              </a:rPr>
              <a:t>같은 시간대 안에서 기온과 이용량의 관계를 비교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02336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9360" y="420624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F172A"/>
                </a:solidFill>
                <a:latin typeface="Malgun Gothic"/>
              </a:rPr>
              <a:t>04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Malgun Gothic"/>
              </a:rPr>
              <a:t>교통수단 비교</a:t>
            </a:r>
          </a:p>
          <a:p>
            <a:r>
              <a:rPr sz="1300">
                <a:solidFill>
                  <a:srgbClr val="64748B"/>
                </a:solidFill>
                <a:latin typeface="Malgun Gothic"/>
              </a:rPr>
              <a:t>따릉이와 지하철의 기온 반응 차이를 확인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Malgun Gothic"/>
              </a:rPr>
              <a:t>02 활용데이터 및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Malgun Gothic"/>
              </a:rPr>
              <a:t>분석 도구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Malgun Gothi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Malgun Gothic"/>
              </a:rPr>
              <a:t>Python</a:t>
            </a:r>
            <a:br/>
            <a:r>
              <a:t>전처리·분석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F172A"/>
                </a:solidFill>
                <a:latin typeface="Malgun Gothic"/>
              </a:rPr>
              <a:t>VS Code</a:t>
            </a:r>
            <a:br>
              <a:rPr dirty="0"/>
            </a:br>
            <a:r>
              <a:rPr dirty="0" err="1"/>
              <a:t>프로젝트</a:t>
            </a:r>
            <a:r>
              <a:rPr dirty="0"/>
              <a:t> </a:t>
            </a:r>
            <a:r>
              <a:rPr dirty="0" err="1"/>
              <a:t>개발환경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32918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83280" y="182880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 err="1">
                <a:solidFill>
                  <a:srgbClr val="0F172A"/>
                </a:solidFill>
                <a:latin typeface="Malgun Gothic"/>
              </a:rPr>
              <a:t>Jupyter</a:t>
            </a:r>
            <a:r>
              <a:rPr sz="1400" b="1" dirty="0">
                <a:solidFill>
                  <a:srgbClr val="0F172A"/>
                </a:solidFill>
                <a:latin typeface="Malgun Gothic"/>
              </a:rPr>
              <a:t> Notebook</a:t>
            </a:r>
            <a:br>
              <a:rPr dirty="0"/>
            </a:br>
            <a:r>
              <a:rPr dirty="0"/>
              <a:t>EDA 및 </a:t>
            </a:r>
            <a:r>
              <a:rPr dirty="0" err="1"/>
              <a:t>결과</a:t>
            </a:r>
            <a:r>
              <a:rPr dirty="0"/>
              <a:t> </a:t>
            </a:r>
            <a:r>
              <a:rPr dirty="0" err="1"/>
              <a:t>확인</a:t>
            </a:r>
            <a:endParaRPr dirty="0"/>
          </a:p>
        </p:txBody>
      </p:sp>
      <p:sp>
        <p:nvSpPr>
          <p:cNvPr id="12" name="Rounded Rectangle 11"/>
          <p:cNvSpPr/>
          <p:nvPr/>
        </p:nvSpPr>
        <p:spPr>
          <a:xfrm>
            <a:off x="3291840" y="365760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83280" y="384048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F172A"/>
                </a:solidFill>
                <a:latin typeface="Malgun Gothic"/>
              </a:rPr>
              <a:t>pandas</a:t>
            </a:r>
            <a:br>
              <a:rPr dirty="0"/>
            </a:br>
            <a:r>
              <a:rPr dirty="0"/>
              <a:t>CSV </a:t>
            </a:r>
            <a:r>
              <a:rPr dirty="0" err="1"/>
              <a:t>처리·집계·merge</a:t>
            </a:r>
            <a:endParaRPr dirty="0"/>
          </a:p>
        </p:txBody>
      </p:sp>
      <p:sp>
        <p:nvSpPr>
          <p:cNvPr id="14" name="Rounded Rectangle 13"/>
          <p:cNvSpPr/>
          <p:nvPr/>
        </p:nvSpPr>
        <p:spPr>
          <a:xfrm>
            <a:off x="60350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182880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F172A"/>
                </a:solidFill>
                <a:latin typeface="Malgun Gothic"/>
              </a:rPr>
              <a:t>NumPy</a:t>
            </a:r>
            <a:br>
              <a:rPr dirty="0"/>
            </a:br>
            <a:r>
              <a:rPr dirty="0" err="1"/>
              <a:t>수치</a:t>
            </a:r>
            <a:r>
              <a:rPr dirty="0"/>
              <a:t> </a:t>
            </a:r>
            <a:r>
              <a:rPr dirty="0" err="1"/>
              <a:t>연산</a:t>
            </a:r>
            <a:endParaRPr dirty="0"/>
          </a:p>
        </p:txBody>
      </p:sp>
      <p:sp>
        <p:nvSpPr>
          <p:cNvPr id="16" name="Rounded Rectangle 15"/>
          <p:cNvSpPr/>
          <p:nvPr/>
        </p:nvSpPr>
        <p:spPr>
          <a:xfrm>
            <a:off x="6035040" y="365760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80" y="384048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F172A"/>
                </a:solidFill>
                <a:latin typeface="Malgun Gothic"/>
              </a:rPr>
              <a:t>matplotlib / seaborn</a:t>
            </a:r>
            <a:br>
              <a:rPr dirty="0"/>
            </a:br>
            <a:r>
              <a:rPr dirty="0" err="1"/>
              <a:t>시각화</a:t>
            </a:r>
            <a:endParaRPr dirty="0"/>
          </a:p>
        </p:txBody>
      </p:sp>
      <p:sp>
        <p:nvSpPr>
          <p:cNvPr id="18" name="Rounded Rectangle 17"/>
          <p:cNvSpPr/>
          <p:nvPr/>
        </p:nvSpPr>
        <p:spPr>
          <a:xfrm>
            <a:off x="87782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69680" y="1828800"/>
            <a:ext cx="23774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F172A"/>
                </a:solidFill>
                <a:latin typeface="Malgun Gothic"/>
              </a:rPr>
              <a:t>holidays.KR</a:t>
            </a:r>
            <a:br>
              <a:rPr dirty="0"/>
            </a:br>
            <a:r>
              <a:rPr sz="1600" dirty="0" err="1"/>
              <a:t>공휴일·대체공휴일</a:t>
            </a:r>
            <a:r>
              <a:rPr sz="1600" dirty="0"/>
              <a:t> </a:t>
            </a:r>
            <a:r>
              <a:rPr sz="1600" dirty="0" err="1"/>
              <a:t>판별</a:t>
            </a:r>
            <a:endParaRPr dirty="0"/>
          </a:p>
        </p:txBody>
      </p:sp>
      <p:sp>
        <p:nvSpPr>
          <p:cNvPr id="20" name="Rounded Rectangle 19"/>
          <p:cNvSpPr/>
          <p:nvPr/>
        </p:nvSpPr>
        <p:spPr>
          <a:xfrm>
            <a:off x="8778240" y="365760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69680" y="384048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 err="1">
                <a:solidFill>
                  <a:srgbClr val="0F172A"/>
                </a:solidFill>
                <a:latin typeface="Malgun Gothic"/>
              </a:rPr>
              <a:t>Streamlit</a:t>
            </a:r>
            <a:br>
              <a:rPr dirty="0"/>
            </a:br>
            <a:r>
              <a:rPr dirty="0" err="1"/>
              <a:t>최종</a:t>
            </a:r>
            <a:r>
              <a:rPr dirty="0"/>
              <a:t> </a:t>
            </a:r>
            <a:r>
              <a:rPr dirty="0" err="1"/>
              <a:t>대시보드</a:t>
            </a:r>
            <a:endParaRPr dirty="0"/>
          </a:p>
        </p:txBody>
      </p:sp>
      <p:sp>
        <p:nvSpPr>
          <p:cNvPr id="22" name="Rounded Rectangle 21"/>
          <p:cNvSpPr/>
          <p:nvPr/>
        </p:nvSpPr>
        <p:spPr>
          <a:xfrm>
            <a:off x="548640" y="5669280"/>
            <a:ext cx="11094415" cy="7315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580644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 err="1">
                <a:solidFill>
                  <a:srgbClr val="B45309"/>
                </a:solidFill>
                <a:latin typeface="Malgun Gothic"/>
              </a:rPr>
              <a:t>특이사항</a:t>
            </a:r>
            <a:r>
              <a:rPr sz="1300" b="1" dirty="0">
                <a:solidFill>
                  <a:srgbClr val="B45309"/>
                </a:solidFill>
                <a:latin typeface="Malgun Gothic"/>
              </a:rPr>
              <a:t> : </a:t>
            </a:r>
            <a:r>
              <a:rPr sz="1300" b="1" dirty="0" err="1">
                <a:solidFill>
                  <a:srgbClr val="B45309"/>
                </a:solidFill>
                <a:latin typeface="Malgun Gothic"/>
              </a:rPr>
              <a:t>한국</a:t>
            </a:r>
            <a:r>
              <a:rPr sz="1300" b="1" dirty="0">
                <a:solidFill>
                  <a:srgbClr val="B45309"/>
                </a:solidFill>
                <a:latin typeface="Malgun Gothic"/>
              </a:rPr>
              <a:t> </a:t>
            </a:r>
            <a:r>
              <a:rPr sz="1300" b="1" dirty="0" err="1">
                <a:solidFill>
                  <a:srgbClr val="B45309"/>
                </a:solidFill>
                <a:latin typeface="Malgun Gothic"/>
              </a:rPr>
              <a:t>공휴일·대체공휴일은</a:t>
            </a:r>
            <a:r>
              <a:rPr sz="1300" b="1" dirty="0">
                <a:solidFill>
                  <a:srgbClr val="B45309"/>
                </a:solidFill>
                <a:latin typeface="Malgun Gothic"/>
              </a:rPr>
              <a:t> holidays.KR(years=2025)로 </a:t>
            </a:r>
            <a:r>
              <a:rPr sz="1300" b="1" dirty="0" err="1">
                <a:solidFill>
                  <a:srgbClr val="B45309"/>
                </a:solidFill>
                <a:latin typeface="Malgun Gothic"/>
              </a:rPr>
              <a:t>판별</a:t>
            </a:r>
            <a:endParaRPr sz="1300" b="1" dirty="0">
              <a:solidFill>
                <a:srgbClr val="B45309"/>
              </a:solidFill>
              <a:latin typeface="Malgun Gothic"/>
            </a:endParaRPr>
          </a:p>
        </p:txBody>
      </p:sp>
      <p:pic>
        <p:nvPicPr>
          <p:cNvPr id="1026" name="Picture 2" descr="Combined logo">
            <a:extLst>
              <a:ext uri="{FF2B5EF4-FFF2-40B4-BE49-F238E27FC236}">
                <a16:creationId xmlns:a16="http://schemas.microsoft.com/office/drawing/2014/main" id="{D91CF117-8488-4571-90F4-FCD121BF91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913" y="2438001"/>
            <a:ext cx="2009775" cy="676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ACA5CE3-4E73-413A-8B2F-80A4B3573D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9041" y="2394980"/>
            <a:ext cx="765918" cy="896860"/>
          </a:xfrm>
          <a:prstGeom prst="rect">
            <a:avLst/>
          </a:prstGeom>
        </p:spPr>
      </p:pic>
      <p:pic>
        <p:nvPicPr>
          <p:cNvPr id="1032" name="Picture 8" descr="NumPy - Press kit">
            <a:extLst>
              <a:ext uri="{FF2B5EF4-FFF2-40B4-BE49-F238E27FC236}">
                <a16:creationId xmlns:a16="http://schemas.microsoft.com/office/drawing/2014/main" id="{810C9FC2-6681-43BB-A59A-9899B4DF4D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1520" y="2421441"/>
            <a:ext cx="887360" cy="887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52AD8C25-E8F4-4400-9CDD-FE990325E7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3136" y="4392192"/>
            <a:ext cx="911328" cy="911328"/>
          </a:xfrm>
          <a:prstGeom prst="rect">
            <a:avLst/>
          </a:prstGeom>
        </p:spPr>
      </p:pic>
      <p:pic>
        <p:nvPicPr>
          <p:cNvPr id="33" name="그래픽 32">
            <a:extLst>
              <a:ext uri="{FF2B5EF4-FFF2-40B4-BE49-F238E27FC236}">
                <a16:creationId xmlns:a16="http://schemas.microsoft.com/office/drawing/2014/main" id="{4DD5442B-D21D-4040-BCCF-F50A9FBE176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88556" y="4589430"/>
            <a:ext cx="1766888" cy="714090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id="{C8B8C14D-D768-4C32-8633-1B74DFC0225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65309" y="4723719"/>
            <a:ext cx="1429826" cy="34360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BCF75F6F-6204-4B48-B619-5BBAA3EE135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51258" y="4447089"/>
            <a:ext cx="941061" cy="896860"/>
          </a:xfrm>
          <a:prstGeom prst="rect">
            <a:avLst/>
          </a:prstGeom>
        </p:spPr>
      </p:pic>
      <p:pic>
        <p:nvPicPr>
          <p:cNvPr id="1036" name="Picture 12" descr="Streamlit logo on light background">
            <a:extLst>
              <a:ext uri="{FF2B5EF4-FFF2-40B4-BE49-F238E27FC236}">
                <a16:creationId xmlns:a16="http://schemas.microsoft.com/office/drawing/2014/main" id="{8298C621-C7B9-4DCD-92CA-3BF7A174C9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6800" y="4595814"/>
            <a:ext cx="2560320" cy="710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Malgun Gothic"/>
              </a:rPr>
              <a:t>02 활용데이터 및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Malgun Gothic"/>
              </a:rPr>
              <a:t>활용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Malgun Gothic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E40AF"/>
                </a:solidFill>
                <a:latin typeface="Malgun Gothic"/>
              </a:rPr>
              <a:t>원본 구조와 분석에 사용한 핵심 특성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356616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3566160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200400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 dirty="0" err="1">
                <a:solidFill>
                  <a:srgbClr val="F59E0B"/>
                </a:solidFill>
                <a:latin typeface="Malgun Gothic"/>
              </a:rPr>
              <a:t>기온</a:t>
            </a:r>
            <a:endParaRPr sz="1800" b="1" dirty="0">
              <a:solidFill>
                <a:srgbClr val="F59E0B"/>
              </a:solidFill>
              <a:latin typeface="Malgun Gothic"/>
            </a:endParaRP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Malgun Gothic"/>
              </a:rPr>
              <a:t>• </a:t>
            </a:r>
            <a:r>
              <a:rPr sz="1200" dirty="0" err="1">
                <a:solidFill>
                  <a:srgbClr val="0F172A"/>
                </a:solidFill>
                <a:latin typeface="Malgun Gothic"/>
              </a:rPr>
              <a:t>기상청</a:t>
            </a:r>
            <a:r>
              <a:rPr sz="1200" dirty="0">
                <a:solidFill>
                  <a:srgbClr val="0F172A"/>
                </a:solidFill>
                <a:latin typeface="Malgun Gothic"/>
              </a:rPr>
              <a:t> ASOS · </a:t>
            </a:r>
            <a:r>
              <a:rPr sz="1200" dirty="0" err="1">
                <a:solidFill>
                  <a:srgbClr val="0F172A"/>
                </a:solidFill>
                <a:latin typeface="Malgun Gothic"/>
              </a:rPr>
              <a:t>서울</a:t>
            </a:r>
            <a:r>
              <a:rPr lang="ko-KR" altLang="en-US" sz="1200" dirty="0">
                <a:solidFill>
                  <a:srgbClr val="0F172A"/>
                </a:solidFill>
                <a:latin typeface="Malgun Gothic"/>
              </a:rPr>
              <a:t>지점</a:t>
            </a:r>
            <a:r>
              <a:rPr sz="1200" dirty="0">
                <a:solidFill>
                  <a:srgbClr val="0F172A"/>
                </a:solidFill>
                <a:latin typeface="Malgun Gothic"/>
              </a:rPr>
              <a:t> 108번</a:t>
            </a: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Malgun Gothic"/>
              </a:rPr>
              <a:t>• 2025년 </a:t>
            </a:r>
            <a:r>
              <a:rPr sz="1200" dirty="0" err="1">
                <a:solidFill>
                  <a:srgbClr val="0F172A"/>
                </a:solidFill>
                <a:latin typeface="Malgun Gothic"/>
              </a:rPr>
              <a:t>시간별</a:t>
            </a:r>
            <a:r>
              <a:rPr sz="12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Malgun Gothic"/>
              </a:rPr>
              <a:t>관측</a:t>
            </a:r>
            <a:endParaRPr sz="1200" dirty="0">
              <a:solidFill>
                <a:srgbClr val="0F172A"/>
              </a:solidFill>
              <a:latin typeface="Malgun Gothic"/>
            </a:endParaRP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Malgun Gothic"/>
              </a:rPr>
              <a:t>• 8,760행</a:t>
            </a: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Malgun Gothic"/>
              </a:rPr>
              <a:t>• </a:t>
            </a:r>
            <a:r>
              <a:rPr sz="1200" dirty="0" err="1">
                <a:solidFill>
                  <a:srgbClr val="0F172A"/>
                </a:solidFill>
                <a:latin typeface="Malgun Gothic"/>
              </a:rPr>
              <a:t>서울</a:t>
            </a:r>
            <a:r>
              <a:rPr sz="12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Malgun Gothic"/>
              </a:rPr>
              <a:t>지점의</a:t>
            </a:r>
            <a:r>
              <a:rPr sz="12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Malgun Gothic"/>
              </a:rPr>
              <a:t>시간별</a:t>
            </a:r>
            <a:r>
              <a:rPr sz="12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Malgun Gothic"/>
              </a:rPr>
              <a:t>기온</a:t>
            </a:r>
            <a:endParaRPr sz="1200" dirty="0">
              <a:solidFill>
                <a:srgbClr val="0F172A"/>
              </a:solidFill>
              <a:latin typeface="Malgun Gothic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97680" y="2011680"/>
            <a:ext cx="356616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2011680"/>
            <a:ext cx="3566160" cy="10972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0560" y="2286000"/>
            <a:ext cx="32004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 dirty="0" err="1">
                <a:solidFill>
                  <a:srgbClr val="15803D"/>
                </a:solidFill>
                <a:latin typeface="Malgun Gothic"/>
              </a:rPr>
              <a:t>따릉이</a:t>
            </a:r>
            <a:endParaRPr sz="1800" b="1" dirty="0">
              <a:solidFill>
                <a:srgbClr val="15803D"/>
              </a:solidFill>
              <a:latin typeface="Malgun Gothic"/>
            </a:endParaRP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Malgun Gothic"/>
              </a:rPr>
              <a:t>• </a:t>
            </a:r>
            <a:r>
              <a:rPr sz="1200" dirty="0" err="1">
                <a:solidFill>
                  <a:srgbClr val="0F172A"/>
                </a:solidFill>
                <a:latin typeface="Malgun Gothic"/>
              </a:rPr>
              <a:t>서울시</a:t>
            </a:r>
            <a:r>
              <a:rPr sz="12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Malgun Gothic"/>
              </a:rPr>
              <a:t>공공자전거</a:t>
            </a:r>
            <a:r>
              <a:rPr sz="12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Malgun Gothic"/>
              </a:rPr>
              <a:t>대여이력</a:t>
            </a:r>
            <a:endParaRPr sz="1200" dirty="0">
              <a:solidFill>
                <a:srgbClr val="0F172A"/>
              </a:solidFill>
              <a:latin typeface="Malgun Gothic"/>
            </a:endParaRP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Malgun Gothic"/>
              </a:rPr>
              <a:t>• 2025년 </a:t>
            </a:r>
            <a:r>
              <a:rPr sz="1200" dirty="0" err="1">
                <a:solidFill>
                  <a:srgbClr val="0F172A"/>
                </a:solidFill>
                <a:latin typeface="Malgun Gothic"/>
              </a:rPr>
              <a:t>대여</a:t>
            </a:r>
            <a:r>
              <a:rPr sz="12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Malgun Gothic"/>
              </a:rPr>
              <a:t>상세</a:t>
            </a:r>
            <a:r>
              <a:rPr sz="12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Malgun Gothic"/>
              </a:rPr>
              <a:t>이력</a:t>
            </a:r>
            <a:endParaRPr sz="1200" dirty="0">
              <a:solidFill>
                <a:srgbClr val="0F172A"/>
              </a:solidFill>
              <a:latin typeface="Malgun Gothic"/>
            </a:endParaRP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Malgun Gothic"/>
              </a:rPr>
              <a:t>• 1월 </a:t>
            </a:r>
            <a:r>
              <a:rPr sz="1200" dirty="0" err="1">
                <a:solidFill>
                  <a:srgbClr val="0F172A"/>
                </a:solidFill>
                <a:latin typeface="Malgun Gothic"/>
              </a:rPr>
              <a:t>파일</a:t>
            </a:r>
            <a:r>
              <a:rPr sz="1200" dirty="0">
                <a:solidFill>
                  <a:srgbClr val="0F172A"/>
                </a:solidFill>
                <a:latin typeface="Malgun Gothic"/>
              </a:rPr>
              <a:t> 1,704,188행</a:t>
            </a: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Malgun Gothic"/>
              </a:rPr>
              <a:t>• </a:t>
            </a:r>
            <a:r>
              <a:rPr sz="1200" dirty="0" err="1">
                <a:solidFill>
                  <a:srgbClr val="0F172A"/>
                </a:solidFill>
                <a:latin typeface="Malgun Gothic"/>
              </a:rPr>
              <a:t>대여일시</a:t>
            </a:r>
            <a:r>
              <a:rPr sz="12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Malgun Gothic"/>
              </a:rPr>
              <a:t>기반</a:t>
            </a:r>
            <a:r>
              <a:rPr sz="12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Malgun Gothic"/>
              </a:rPr>
              <a:t>시간대</a:t>
            </a:r>
            <a:r>
              <a:rPr sz="12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Malgun Gothic"/>
              </a:rPr>
              <a:t>집계</a:t>
            </a:r>
            <a:endParaRPr sz="1200" dirty="0">
              <a:solidFill>
                <a:srgbClr val="0F172A"/>
              </a:solidFill>
              <a:latin typeface="Malgun Gothic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46720" y="2011680"/>
            <a:ext cx="356616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2011680"/>
            <a:ext cx="3566160" cy="10972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0" y="2286000"/>
            <a:ext cx="32004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1E40AF"/>
                </a:solidFill>
                <a:latin typeface="Malgun Gothic"/>
              </a:rPr>
              <a:t>지하철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Malgun Gothic"/>
              </a:rPr>
              <a:t>• 서울교통공사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Malgun Gothic"/>
              </a:rPr>
              <a:t>• 2025년 역별·일별·시간대별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Malgun Gothic"/>
              </a:rPr>
              <a:t>• 199,424행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Malgun Gothic"/>
              </a:rPr>
              <a:t>• 승차 데이터 선택 후 역별 합산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486400"/>
            <a:ext cx="11094415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56235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64748B"/>
                </a:solidFill>
                <a:latin typeface="Malgun Gothic"/>
              </a:rPr>
              <a:t>※ </a:t>
            </a:r>
            <a:r>
              <a:rPr sz="1300" b="1" dirty="0" err="1">
                <a:solidFill>
                  <a:srgbClr val="64748B"/>
                </a:solidFill>
                <a:latin typeface="Malgun Gothic"/>
              </a:rPr>
              <a:t>원본</a:t>
            </a:r>
            <a:r>
              <a:rPr sz="1300" b="1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300" b="1" dirty="0" err="1">
                <a:solidFill>
                  <a:srgbClr val="64748B"/>
                </a:solidFill>
                <a:latin typeface="Malgun Gothic"/>
              </a:rPr>
              <a:t>CSV는</a:t>
            </a:r>
            <a:r>
              <a:rPr sz="1300" b="1" dirty="0">
                <a:solidFill>
                  <a:srgbClr val="64748B"/>
                </a:solidFill>
                <a:latin typeface="Malgun Gothic"/>
              </a:rPr>
              <a:t> cp949로 </a:t>
            </a:r>
            <a:r>
              <a:rPr sz="1300" b="1" dirty="0" err="1">
                <a:solidFill>
                  <a:srgbClr val="64748B"/>
                </a:solidFill>
                <a:latin typeface="Malgun Gothic"/>
              </a:rPr>
              <a:t>읽고</a:t>
            </a:r>
            <a:r>
              <a:rPr sz="1300" b="1" dirty="0">
                <a:solidFill>
                  <a:srgbClr val="64748B"/>
                </a:solidFill>
                <a:latin typeface="Malgun Gothic"/>
              </a:rPr>
              <a:t>, </a:t>
            </a:r>
            <a:r>
              <a:rPr sz="1300" b="1" dirty="0" err="1">
                <a:solidFill>
                  <a:srgbClr val="64748B"/>
                </a:solidFill>
                <a:latin typeface="Malgun Gothic"/>
              </a:rPr>
              <a:t>전처리</a:t>
            </a:r>
            <a:r>
              <a:rPr sz="1300" b="1" dirty="0">
                <a:solidFill>
                  <a:srgbClr val="64748B"/>
                </a:solidFill>
                <a:latin typeface="Malgun Gothic"/>
              </a:rPr>
              <a:t> 후 UTF-8-SIG </a:t>
            </a:r>
            <a:r>
              <a:rPr sz="1300" b="1" dirty="0" err="1">
                <a:solidFill>
                  <a:srgbClr val="64748B"/>
                </a:solidFill>
                <a:latin typeface="Malgun Gothic"/>
              </a:rPr>
              <a:t>CSV로</a:t>
            </a:r>
            <a:r>
              <a:rPr sz="1300" b="1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300" b="1" dirty="0" err="1">
                <a:solidFill>
                  <a:srgbClr val="64748B"/>
                </a:solidFill>
                <a:latin typeface="Malgun Gothic"/>
              </a:rPr>
              <a:t>저장</a:t>
            </a:r>
            <a:endParaRPr sz="1300" b="1" dirty="0">
              <a:solidFill>
                <a:srgbClr val="64748B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Malgun Gothic"/>
              </a:rPr>
              <a:t>02 활용데이터 및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Malgun Gothic"/>
              </a:rPr>
              <a:t>전처리 및 통합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Malgun Gothic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5803D"/>
                </a:solidFill>
                <a:latin typeface="Malgun Gothic"/>
              </a:rPr>
              <a:t>따릉이</a:t>
            </a:r>
          </a:p>
          <a:p>
            <a:r>
              <a:rPr sz="1200">
                <a:solidFill>
                  <a:srgbClr val="0F172A"/>
                </a:solidFill>
                <a:latin typeface="Malgun Gothic"/>
              </a:rPr>
              <a:t>대여일시 →</a:t>
            </a:r>
            <a:br/>
            <a:r>
              <a:t>1시간 단위 대여건수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29000" y="182880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E40AF"/>
                </a:solidFill>
                <a:latin typeface="Malgun Gothic"/>
              </a:rPr>
              <a:t>지하철</a:t>
            </a:r>
          </a:p>
          <a:p>
            <a:r>
              <a:rPr sz="1200">
                <a:solidFill>
                  <a:srgbClr val="0F172A"/>
                </a:solidFill>
                <a:latin typeface="Malgun Gothic"/>
              </a:rPr>
              <a:t>승차만 선택 →</a:t>
            </a:r>
            <a:br/>
            <a:r>
              <a:t>역별 합산 → melt()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72200" y="182880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59E0B"/>
                </a:solidFill>
                <a:latin typeface="Malgun Gothic"/>
              </a:rPr>
              <a:t>기온</a:t>
            </a:r>
          </a:p>
          <a:p>
            <a:r>
              <a:rPr sz="1200">
                <a:solidFill>
                  <a:srgbClr val="0F172A"/>
                </a:solidFill>
                <a:latin typeface="Malgun Gothic"/>
              </a:rPr>
              <a:t>시간별 관측값 →</a:t>
            </a:r>
            <a:br/>
            <a:r>
              <a:t>동일 시간대 대응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782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15400" y="182880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Malgun Gothic"/>
              </a:rPr>
              <a:t>공통 key</a:t>
            </a:r>
          </a:p>
          <a:p>
            <a:r>
              <a:rPr sz="1200">
                <a:solidFill>
                  <a:srgbClr val="0F172A"/>
                </a:solidFill>
                <a:latin typeface="Malgun Gothic"/>
              </a:rPr>
              <a:t>날짜 + 시간대 →</a:t>
            </a:r>
            <a:br/>
            <a:r>
              <a:t>3개 데이터 merge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57600"/>
            <a:ext cx="530352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840480"/>
            <a:ext cx="4754880" cy="1267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dirty="0">
                <a:solidFill>
                  <a:srgbClr val="1E40AF"/>
                </a:solidFill>
                <a:latin typeface="Malgun Gothic"/>
              </a:rPr>
              <a:t>06~23시만 </a:t>
            </a:r>
            <a:r>
              <a:rPr sz="1600" b="1" dirty="0" err="1">
                <a:solidFill>
                  <a:srgbClr val="1E40AF"/>
                </a:solidFill>
                <a:latin typeface="Malgun Gothic"/>
              </a:rPr>
              <a:t>사용</a:t>
            </a:r>
            <a:endParaRPr sz="1600" b="1" dirty="0">
              <a:solidFill>
                <a:srgbClr val="1E40AF"/>
              </a:solidFill>
              <a:latin typeface="Malgun Gothic"/>
            </a:endParaRPr>
          </a:p>
          <a:p>
            <a:r>
              <a:rPr sz="1300" dirty="0" err="1">
                <a:solidFill>
                  <a:srgbClr val="0F172A"/>
                </a:solidFill>
                <a:latin typeface="Malgun Gothic"/>
              </a:rPr>
              <a:t>지하철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원본에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‘06시이전’과 ‘24시이후’처럼 </a:t>
            </a:r>
            <a:endParaRPr lang="en-US" sz="1300" dirty="0">
              <a:solidFill>
                <a:srgbClr val="0F172A"/>
              </a:solidFill>
              <a:latin typeface="Malgun Gothic"/>
            </a:endParaRPr>
          </a:p>
          <a:p>
            <a:r>
              <a:rPr sz="1300" dirty="0" err="1">
                <a:solidFill>
                  <a:srgbClr val="0F172A"/>
                </a:solidFill>
                <a:latin typeface="Malgun Gothic"/>
              </a:rPr>
              <a:t>여러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시간을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하나로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묶은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컬럼이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있어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endParaRPr lang="en-US" sz="1300" dirty="0">
              <a:solidFill>
                <a:srgbClr val="0F172A"/>
              </a:solidFill>
              <a:latin typeface="Malgun Gothic"/>
            </a:endParaRPr>
          </a:p>
          <a:p>
            <a:r>
              <a:rPr sz="1300" dirty="0" err="1">
                <a:solidFill>
                  <a:srgbClr val="0F172A"/>
                </a:solidFill>
                <a:latin typeface="Malgun Gothic"/>
              </a:rPr>
              <a:t>세부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시간대로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대응할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수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없습니다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.</a:t>
            </a:r>
            <a:endParaRPr lang="en-US" sz="1300" dirty="0">
              <a:solidFill>
                <a:srgbClr val="0F172A"/>
              </a:solidFill>
              <a:latin typeface="Malgun Gothic"/>
            </a:endParaRPr>
          </a:p>
          <a:p>
            <a:r>
              <a:rPr sz="1300" dirty="0" err="1">
                <a:solidFill>
                  <a:srgbClr val="0F172A"/>
                </a:solidFill>
                <a:latin typeface="Malgun Gothic"/>
              </a:rPr>
              <a:t>따라서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06-07 ~ 23-24만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공통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분석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대상으로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사용했습니다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657600"/>
            <a:ext cx="530352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840480"/>
            <a:ext cx="4754880" cy="1066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dirty="0" err="1">
                <a:solidFill>
                  <a:srgbClr val="15803D"/>
                </a:solidFill>
                <a:latin typeface="Malgun Gothic"/>
              </a:rPr>
              <a:t>주말·공휴일</a:t>
            </a:r>
            <a:r>
              <a:rPr sz="1600" b="1" dirty="0">
                <a:solidFill>
                  <a:srgbClr val="15803D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15803D"/>
                </a:solidFill>
                <a:latin typeface="Malgun Gothic"/>
              </a:rPr>
              <a:t>제외</a:t>
            </a:r>
            <a:endParaRPr sz="1600" b="1" dirty="0">
              <a:solidFill>
                <a:srgbClr val="15803D"/>
              </a:solidFill>
              <a:latin typeface="Malgun Gothic"/>
            </a:endParaRPr>
          </a:p>
          <a:p>
            <a:r>
              <a:rPr sz="1300" dirty="0" err="1">
                <a:solidFill>
                  <a:srgbClr val="0F172A"/>
                </a:solidFill>
                <a:latin typeface="Malgun Gothic"/>
              </a:rPr>
              <a:t>평일과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주말·공휴일은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이용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목적과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패턴이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endParaRPr lang="en-US" sz="1300" dirty="0">
              <a:solidFill>
                <a:srgbClr val="0F172A"/>
              </a:solidFill>
              <a:latin typeface="Malgun Gothic"/>
            </a:endParaRPr>
          </a:p>
          <a:p>
            <a:r>
              <a:rPr sz="1300" dirty="0" err="1">
                <a:solidFill>
                  <a:srgbClr val="0F172A"/>
                </a:solidFill>
                <a:latin typeface="Malgun Gothic"/>
              </a:rPr>
              <a:t>다를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가능성이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크다고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가정해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,</a:t>
            </a:r>
            <a:endParaRPr lang="en-US" sz="1300" dirty="0">
              <a:solidFill>
                <a:srgbClr val="0F172A"/>
              </a:solidFill>
              <a:latin typeface="Malgun Gothic"/>
            </a:endParaRPr>
          </a:p>
          <a:p>
            <a:r>
              <a:rPr sz="1300" dirty="0" err="1">
                <a:solidFill>
                  <a:srgbClr val="0F172A"/>
                </a:solidFill>
                <a:latin typeface="Malgun Gothic"/>
              </a:rPr>
              <a:t>기온-이용량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관계에서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요일·휴일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효과를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줄였습니다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Malgun Gothic"/>
              </a:rPr>
              <a:t>02 활용데이터 및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Malgun Gothic"/>
              </a:rPr>
              <a:t>최종 분석 데이터 형태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Malgun Gothic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43891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023360" cy="2508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 dirty="0">
                <a:solidFill>
                  <a:srgbClr val="1E40AF"/>
                </a:solidFill>
                <a:latin typeface="Malgun Gothic"/>
              </a:rPr>
              <a:t>한 행 = </a:t>
            </a:r>
            <a:r>
              <a:rPr sz="1600" b="1" dirty="0" err="1">
                <a:solidFill>
                  <a:srgbClr val="1E40AF"/>
                </a:solidFill>
                <a:latin typeface="Malgun Gothic"/>
              </a:rPr>
              <a:t>특정</a:t>
            </a:r>
            <a:r>
              <a:rPr sz="16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Malgun Gothic"/>
              </a:rPr>
              <a:t>날짜</a:t>
            </a:r>
            <a:r>
              <a:rPr sz="1600" b="1" dirty="0">
                <a:solidFill>
                  <a:srgbClr val="1E40AF"/>
                </a:solidFill>
                <a:latin typeface="Malgun Gothic"/>
              </a:rPr>
              <a:t> × </a:t>
            </a:r>
            <a:r>
              <a:rPr sz="1600" b="1" dirty="0" err="1">
                <a:solidFill>
                  <a:srgbClr val="1E40AF"/>
                </a:solidFill>
                <a:latin typeface="Malgun Gothic"/>
              </a:rPr>
              <a:t>특정</a:t>
            </a:r>
            <a:r>
              <a:rPr sz="16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Malgun Gothic"/>
              </a:rPr>
              <a:t>시간대</a:t>
            </a:r>
            <a:endParaRPr sz="1600" b="1" dirty="0">
              <a:solidFill>
                <a:srgbClr val="1E40AF"/>
              </a:solidFill>
              <a:latin typeface="Malgun Gothic"/>
            </a:endParaRPr>
          </a:p>
          <a:p>
            <a:pPr>
              <a:spcAft>
                <a:spcPts val="600"/>
              </a:spcAft>
            </a:pPr>
            <a:r>
              <a:rPr sz="1400" b="1" dirty="0" err="1">
                <a:solidFill>
                  <a:srgbClr val="0F172A"/>
                </a:solidFill>
                <a:latin typeface="Malgun Gothic"/>
              </a:rPr>
              <a:t>최종</a:t>
            </a:r>
            <a:r>
              <a:rPr sz="1400" b="1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0F172A"/>
                </a:solidFill>
                <a:latin typeface="Malgun Gothic"/>
              </a:rPr>
              <a:t>컬럼</a:t>
            </a:r>
            <a:endParaRPr sz="1400" b="1" dirty="0">
              <a:solidFill>
                <a:srgbClr val="0F172A"/>
              </a:solidFill>
              <a:latin typeface="Malgun Gothic"/>
            </a:endParaRPr>
          </a:p>
          <a:p>
            <a:pPr>
              <a:spcAft>
                <a:spcPts val="2000"/>
              </a:spcAft>
            </a:pPr>
            <a:r>
              <a:rPr sz="1200" dirty="0" err="1">
                <a:solidFill>
                  <a:srgbClr val="64748B"/>
                </a:solidFill>
                <a:latin typeface="Malgun Gothic"/>
              </a:rPr>
              <a:t>날짜</a:t>
            </a:r>
            <a:r>
              <a:rPr sz="1200" dirty="0">
                <a:solidFill>
                  <a:srgbClr val="64748B"/>
                </a:solidFill>
                <a:latin typeface="Malgun Gothic"/>
              </a:rPr>
              <a:t> / </a:t>
            </a:r>
            <a:r>
              <a:rPr sz="1200" dirty="0" err="1">
                <a:solidFill>
                  <a:srgbClr val="64748B"/>
                </a:solidFill>
                <a:latin typeface="Malgun Gothic"/>
              </a:rPr>
              <a:t>시간대</a:t>
            </a:r>
            <a:r>
              <a:rPr sz="1200" dirty="0">
                <a:solidFill>
                  <a:srgbClr val="64748B"/>
                </a:solidFill>
                <a:latin typeface="Malgun Gothic"/>
              </a:rPr>
              <a:t> / </a:t>
            </a:r>
            <a:r>
              <a:rPr sz="1200" dirty="0" err="1">
                <a:solidFill>
                  <a:srgbClr val="64748B"/>
                </a:solidFill>
                <a:latin typeface="Malgun Gothic"/>
              </a:rPr>
              <a:t>따릉이대여건수</a:t>
            </a:r>
            <a:r>
              <a:rPr sz="1200" dirty="0">
                <a:solidFill>
                  <a:srgbClr val="64748B"/>
                </a:solidFill>
                <a:latin typeface="Malgun Gothic"/>
              </a:rPr>
              <a:t> / </a:t>
            </a:r>
            <a:r>
              <a:rPr sz="1200" dirty="0" err="1">
                <a:solidFill>
                  <a:srgbClr val="64748B"/>
                </a:solidFill>
                <a:latin typeface="Malgun Gothic"/>
              </a:rPr>
              <a:t>지하철승차인원</a:t>
            </a:r>
            <a:r>
              <a:rPr sz="1200" dirty="0">
                <a:solidFill>
                  <a:srgbClr val="64748B"/>
                </a:solidFill>
                <a:latin typeface="Malgun Gothic"/>
              </a:rPr>
              <a:t> /</a:t>
            </a:r>
            <a:br>
              <a:rPr lang="en-US" sz="1200" dirty="0">
                <a:solidFill>
                  <a:srgbClr val="64748B"/>
                </a:solidFill>
                <a:latin typeface="Malgun Gothic"/>
              </a:rPr>
            </a:br>
            <a:r>
              <a:rPr sz="1200" dirty="0" err="1">
                <a:solidFill>
                  <a:srgbClr val="64748B"/>
                </a:solidFill>
                <a:latin typeface="Malgun Gothic"/>
              </a:rPr>
              <a:t>기온</a:t>
            </a:r>
            <a:r>
              <a:rPr sz="1200" dirty="0">
                <a:solidFill>
                  <a:srgbClr val="64748B"/>
                </a:solidFill>
                <a:latin typeface="Malgun Gothic"/>
              </a:rPr>
              <a:t>(°C) / </a:t>
            </a:r>
            <a:r>
              <a:rPr sz="1200" dirty="0" err="1">
                <a:solidFill>
                  <a:srgbClr val="64748B"/>
                </a:solidFill>
                <a:latin typeface="Malgun Gothic"/>
              </a:rPr>
              <a:t>요일</a:t>
            </a:r>
            <a:r>
              <a:rPr sz="1200" dirty="0">
                <a:solidFill>
                  <a:srgbClr val="64748B"/>
                </a:solidFill>
                <a:latin typeface="Malgun Gothic"/>
              </a:rPr>
              <a:t> / </a:t>
            </a:r>
            <a:r>
              <a:rPr sz="1200" dirty="0" err="1">
                <a:solidFill>
                  <a:srgbClr val="64748B"/>
                </a:solidFill>
                <a:latin typeface="Malgun Gothic"/>
              </a:rPr>
              <a:t>요일명</a:t>
            </a:r>
            <a:r>
              <a:rPr sz="1200" dirty="0">
                <a:solidFill>
                  <a:srgbClr val="64748B"/>
                </a:solidFill>
                <a:latin typeface="Malgun Gothic"/>
              </a:rPr>
              <a:t> / </a:t>
            </a:r>
            <a:r>
              <a:rPr sz="1200" dirty="0" err="1">
                <a:solidFill>
                  <a:srgbClr val="64748B"/>
                </a:solidFill>
                <a:latin typeface="Malgun Gothic"/>
              </a:rPr>
              <a:t>주말여부</a:t>
            </a:r>
            <a:r>
              <a:rPr sz="1200" dirty="0">
                <a:solidFill>
                  <a:srgbClr val="64748B"/>
                </a:solidFill>
                <a:latin typeface="Malgun Gothic"/>
              </a:rPr>
              <a:t> / </a:t>
            </a:r>
            <a:r>
              <a:rPr sz="1200" dirty="0" err="1">
                <a:solidFill>
                  <a:srgbClr val="64748B"/>
                </a:solidFill>
                <a:latin typeface="Malgun Gothic"/>
              </a:rPr>
              <a:t>공휴일여부</a:t>
            </a:r>
            <a:endParaRPr sz="1200" dirty="0">
              <a:solidFill>
                <a:srgbClr val="64748B"/>
              </a:solidFill>
              <a:latin typeface="Malgun Gothic"/>
            </a:endParaRPr>
          </a:p>
          <a:p>
            <a:pPr>
              <a:spcAft>
                <a:spcPts val="600"/>
              </a:spcAft>
            </a:pPr>
            <a:r>
              <a:rPr sz="1400" b="1" dirty="0" err="1">
                <a:solidFill>
                  <a:srgbClr val="0F172A"/>
                </a:solidFill>
                <a:latin typeface="Malgun Gothic"/>
              </a:rPr>
              <a:t>최종</a:t>
            </a:r>
            <a:r>
              <a:rPr sz="1400" b="1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0F172A"/>
                </a:solidFill>
                <a:latin typeface="Malgun Gothic"/>
              </a:rPr>
              <a:t>데이터</a:t>
            </a:r>
            <a:endParaRPr sz="1400" b="1" dirty="0">
              <a:solidFill>
                <a:srgbClr val="0F172A"/>
              </a:solidFill>
              <a:latin typeface="Malgun Gothic"/>
            </a:endParaRPr>
          </a:p>
          <a:p>
            <a:r>
              <a:rPr sz="1300" b="1" dirty="0">
                <a:solidFill>
                  <a:srgbClr val="15803D"/>
                </a:solidFill>
                <a:latin typeface="Malgun Gothic"/>
              </a:rPr>
              <a:t>2,196개 </a:t>
            </a:r>
            <a:r>
              <a:rPr sz="1300" b="1" dirty="0" err="1">
                <a:solidFill>
                  <a:srgbClr val="15803D"/>
                </a:solidFill>
                <a:latin typeface="Malgun Gothic"/>
              </a:rPr>
              <a:t>공통</a:t>
            </a:r>
            <a:r>
              <a:rPr sz="1300" b="1" dirty="0">
                <a:solidFill>
                  <a:srgbClr val="15803D"/>
                </a:solidFill>
                <a:latin typeface="Malgun Gothic"/>
              </a:rPr>
              <a:t> </a:t>
            </a:r>
            <a:r>
              <a:rPr sz="1300" b="1" dirty="0" err="1">
                <a:solidFill>
                  <a:srgbClr val="15803D"/>
                </a:solidFill>
                <a:latin typeface="Malgun Gothic"/>
              </a:rPr>
              <a:t>날짜×시간대</a:t>
            </a:r>
            <a:br>
              <a:rPr dirty="0"/>
            </a:br>
            <a:r>
              <a:rPr dirty="0"/>
              <a:t>→ </a:t>
            </a:r>
            <a:r>
              <a:rPr dirty="0" err="1"/>
              <a:t>평일·비공휴일</a:t>
            </a:r>
            <a:r>
              <a:rPr dirty="0"/>
              <a:t> 1,494개 </a:t>
            </a:r>
            <a:r>
              <a:rPr dirty="0" err="1"/>
              <a:t>관측값</a:t>
            </a:r>
            <a:br>
              <a:rPr dirty="0"/>
            </a:br>
            <a:r>
              <a:rPr dirty="0"/>
              <a:t>→ 83일 × 18시간대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645920"/>
            <a:ext cx="652241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03520" y="1828800"/>
            <a:ext cx="6156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72A"/>
                </a:solidFill>
                <a:latin typeface="Malgun Gothic"/>
              </a:rPr>
              <a:t>📊 실제 데이터셋 구조 예시 (1,494개 평일 관측 분석 데이터)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50CBB75-E3EF-4C2B-915E-F75780EB7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786" y="2194560"/>
            <a:ext cx="3520122" cy="39538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Malgun Gothic"/>
              </a:rPr>
              <a:t>03 기본 이용 패턴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Malgun Gothic"/>
              </a:rPr>
              <a:t>시간대별 이용 패턴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Malgun Gothic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41148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3749039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400" b="1" dirty="0" err="1">
                <a:solidFill>
                  <a:srgbClr val="1E40AF"/>
                </a:solidFill>
                <a:latin typeface="Malgun Gothic"/>
              </a:rPr>
              <a:t>기온과의</a:t>
            </a:r>
            <a:r>
              <a:rPr sz="14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Malgun Gothic"/>
              </a:rPr>
              <a:t>관계를</a:t>
            </a:r>
            <a:r>
              <a:rPr sz="14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Malgun Gothic"/>
              </a:rPr>
              <a:t>보기</a:t>
            </a:r>
            <a:r>
              <a:rPr sz="14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Malgun Gothic"/>
              </a:rPr>
              <a:t>전에</a:t>
            </a:r>
            <a:r>
              <a:rPr sz="1400" b="1" dirty="0">
                <a:solidFill>
                  <a:srgbClr val="1E40AF"/>
                </a:solidFill>
                <a:latin typeface="Malgun Gothic"/>
              </a:rPr>
              <a:t> </a:t>
            </a:r>
            <a:br>
              <a:rPr lang="en-US" sz="1400" b="1" dirty="0">
                <a:solidFill>
                  <a:srgbClr val="1E40AF"/>
                </a:solidFill>
                <a:latin typeface="Malgun Gothic"/>
              </a:rPr>
            </a:br>
            <a:r>
              <a:rPr sz="1400" b="1" dirty="0" err="1">
                <a:solidFill>
                  <a:srgbClr val="1E40AF"/>
                </a:solidFill>
                <a:latin typeface="Malgun Gothic"/>
              </a:rPr>
              <a:t>시간대</a:t>
            </a:r>
            <a:r>
              <a:rPr sz="14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Malgun Gothic"/>
              </a:rPr>
              <a:t>효과를</a:t>
            </a:r>
            <a:r>
              <a:rPr sz="14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Malgun Gothic"/>
              </a:rPr>
              <a:t>확인</a:t>
            </a:r>
            <a:endParaRPr sz="1400" b="1" dirty="0">
              <a:solidFill>
                <a:srgbClr val="1E40AF"/>
              </a:solidFill>
              <a:latin typeface="Malgun Gothic"/>
            </a:endParaRPr>
          </a:p>
          <a:p>
            <a:pPr>
              <a:spcAft>
                <a:spcPts val="1000"/>
              </a:spcAft>
            </a:pPr>
            <a:r>
              <a:rPr sz="1600" b="1" dirty="0" err="1">
                <a:solidFill>
                  <a:srgbClr val="15803D"/>
                </a:solidFill>
                <a:latin typeface="Malgun Gothic"/>
              </a:rPr>
              <a:t>분석</a:t>
            </a:r>
            <a:r>
              <a:rPr sz="1600" b="1" dirty="0">
                <a:solidFill>
                  <a:srgbClr val="15803D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15803D"/>
                </a:solidFill>
                <a:latin typeface="Malgun Gothic"/>
              </a:rPr>
              <a:t>설계</a:t>
            </a:r>
            <a:endParaRPr sz="1600" b="1" dirty="0">
              <a:solidFill>
                <a:srgbClr val="15803D"/>
              </a:solidFill>
              <a:latin typeface="Malgun Gothic"/>
            </a:endParaRPr>
          </a:p>
          <a:p>
            <a:r>
              <a:rPr sz="1300" dirty="0">
                <a:solidFill>
                  <a:srgbClr val="0F172A"/>
                </a:solidFill>
                <a:latin typeface="Malgun Gothic"/>
              </a:rPr>
              <a:t>두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교통수단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모두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시간대에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따른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br>
              <a:rPr lang="en-US" sz="1300" dirty="0">
                <a:solidFill>
                  <a:srgbClr val="0F172A"/>
                </a:solidFill>
                <a:latin typeface="Malgun Gothic"/>
              </a:rPr>
            </a:br>
            <a:r>
              <a:rPr sz="1300" dirty="0" err="1">
                <a:solidFill>
                  <a:srgbClr val="0F172A"/>
                </a:solidFill>
                <a:latin typeface="Malgun Gothic"/>
              </a:rPr>
              <a:t>이용량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차이가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매우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큽니다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.</a:t>
            </a:r>
            <a:endParaRPr lang="en-US" sz="1300" dirty="0">
              <a:solidFill>
                <a:srgbClr val="0F172A"/>
              </a:solidFill>
              <a:latin typeface="Malgun Gothic"/>
            </a:endParaRPr>
          </a:p>
          <a:p>
            <a:br>
              <a:rPr dirty="0"/>
            </a:br>
            <a:r>
              <a:rPr sz="1700" dirty="0" err="1"/>
              <a:t>따라서</a:t>
            </a:r>
            <a:r>
              <a:rPr sz="1700" dirty="0"/>
              <a:t> </a:t>
            </a:r>
            <a:r>
              <a:rPr sz="1700" dirty="0" err="1"/>
              <a:t>전체</a:t>
            </a:r>
            <a:r>
              <a:rPr sz="1700" dirty="0"/>
              <a:t> </a:t>
            </a:r>
            <a:r>
              <a:rPr sz="1700" dirty="0" err="1"/>
              <a:t>상관분석에서는</a:t>
            </a:r>
            <a:r>
              <a:rPr sz="1700" dirty="0"/>
              <a:t> </a:t>
            </a:r>
            <a:r>
              <a:rPr sz="1700" dirty="0" err="1"/>
              <a:t>시간대</a:t>
            </a:r>
            <a:r>
              <a:rPr sz="1700" dirty="0"/>
              <a:t> </a:t>
            </a:r>
            <a:r>
              <a:rPr sz="1700" dirty="0" err="1"/>
              <a:t>효과와</a:t>
            </a:r>
            <a:r>
              <a:rPr sz="1700" dirty="0"/>
              <a:t> </a:t>
            </a:r>
            <a:r>
              <a:rPr sz="1700" dirty="0" err="1"/>
              <a:t>기온</a:t>
            </a:r>
            <a:r>
              <a:rPr sz="1700" dirty="0"/>
              <a:t> </a:t>
            </a:r>
            <a:r>
              <a:rPr sz="1700" dirty="0" err="1"/>
              <a:t>효과가</a:t>
            </a:r>
            <a:r>
              <a:rPr sz="1700" dirty="0"/>
              <a:t> </a:t>
            </a:r>
            <a:r>
              <a:rPr sz="1700" dirty="0" err="1"/>
              <a:t>섞일</a:t>
            </a:r>
            <a:r>
              <a:rPr sz="1700" dirty="0"/>
              <a:t> 수 </a:t>
            </a:r>
            <a:r>
              <a:rPr sz="1700" dirty="0" err="1"/>
              <a:t>있어</a:t>
            </a:r>
            <a:r>
              <a:rPr lang="en-US" sz="1700" dirty="0"/>
              <a:t>,</a:t>
            </a:r>
            <a:r>
              <a:rPr sz="1700" dirty="0"/>
              <a:t> </a:t>
            </a:r>
            <a:endParaRPr lang="en-US" sz="1700" dirty="0"/>
          </a:p>
          <a:p>
            <a:r>
              <a:rPr sz="1700" dirty="0" err="1"/>
              <a:t>이후</a:t>
            </a:r>
            <a:r>
              <a:rPr sz="1700" dirty="0"/>
              <a:t> </a:t>
            </a:r>
            <a:r>
              <a:rPr sz="1700" dirty="0" err="1"/>
              <a:t>같은</a:t>
            </a:r>
            <a:r>
              <a:rPr sz="1700" dirty="0"/>
              <a:t> </a:t>
            </a:r>
            <a:r>
              <a:rPr sz="1700" dirty="0" err="1"/>
              <a:t>시간대끼리</a:t>
            </a:r>
            <a:r>
              <a:rPr sz="1700" dirty="0"/>
              <a:t> </a:t>
            </a:r>
            <a:r>
              <a:rPr sz="1700" dirty="0" err="1"/>
              <a:t>비교합니다</a:t>
            </a:r>
            <a:r>
              <a:rPr sz="1700" dirty="0"/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645920"/>
            <a:ext cx="6796735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200" b="1" dirty="0">
                <a:solidFill>
                  <a:srgbClr val="64748B"/>
                </a:solidFill>
                <a:latin typeface="Malgun Gothic"/>
              </a:rPr>
              <a:t>📊</a:t>
            </a:r>
            <a:br>
              <a:rPr dirty="0"/>
            </a:br>
            <a:br>
              <a:rPr dirty="0"/>
            </a:br>
            <a:r>
              <a:rPr dirty="0"/>
              <a:t>[</a:t>
            </a:r>
            <a:r>
              <a:rPr dirty="0" err="1"/>
              <a:t>시간대별</a:t>
            </a:r>
            <a:r>
              <a:rPr dirty="0"/>
              <a:t> </a:t>
            </a:r>
            <a:r>
              <a:rPr dirty="0" err="1"/>
              <a:t>평균</a:t>
            </a:r>
            <a:r>
              <a:rPr dirty="0"/>
              <a:t> </a:t>
            </a:r>
            <a:r>
              <a:rPr dirty="0" err="1"/>
              <a:t>따릉이</a:t>
            </a:r>
            <a:r>
              <a:rPr dirty="0"/>
              <a:t> </a:t>
            </a:r>
            <a:r>
              <a:rPr dirty="0" err="1"/>
              <a:t>대여건수</a:t>
            </a:r>
            <a:r>
              <a:rPr dirty="0"/>
              <a:t> / </a:t>
            </a:r>
            <a:r>
              <a:rPr dirty="0" err="1"/>
              <a:t>지하철</a:t>
            </a:r>
            <a:r>
              <a:rPr dirty="0"/>
              <a:t> </a:t>
            </a:r>
            <a:r>
              <a:rPr dirty="0" err="1"/>
              <a:t>승차인원</a:t>
            </a:r>
            <a:r>
              <a:rPr dirty="0"/>
              <a:t> / </a:t>
            </a:r>
            <a:r>
              <a:rPr dirty="0" err="1"/>
              <a:t>교통수단</a:t>
            </a:r>
            <a:r>
              <a:rPr dirty="0"/>
              <a:t> </a:t>
            </a:r>
            <a:r>
              <a:rPr dirty="0" err="1"/>
              <a:t>패턴</a:t>
            </a:r>
            <a:r>
              <a:rPr dirty="0"/>
              <a:t> </a:t>
            </a:r>
            <a:r>
              <a:rPr dirty="0" err="1"/>
              <a:t>비교</a:t>
            </a:r>
            <a:r>
              <a:rPr dirty="0"/>
              <a:t> </a:t>
            </a:r>
            <a:r>
              <a:rPr dirty="0" err="1"/>
              <a:t>그래프</a:t>
            </a:r>
            <a:r>
              <a:rPr dirty="0"/>
              <a:t>]</a:t>
            </a:r>
            <a:br>
              <a:rPr dirty="0"/>
            </a:br>
            <a:r>
              <a:rPr dirty="0"/>
              <a:t>(</a:t>
            </a:r>
            <a:r>
              <a:rPr dirty="0" err="1"/>
              <a:t>기존</a:t>
            </a:r>
            <a:r>
              <a:rPr dirty="0"/>
              <a:t> </a:t>
            </a:r>
            <a:r>
              <a:rPr dirty="0" err="1"/>
              <a:t>그래프</a:t>
            </a:r>
            <a:r>
              <a:rPr dirty="0"/>
              <a:t> </a:t>
            </a:r>
            <a:r>
              <a:rPr dirty="0" err="1"/>
              <a:t>이미지를</a:t>
            </a:r>
            <a:r>
              <a:rPr dirty="0"/>
              <a:t> </a:t>
            </a:r>
            <a:r>
              <a:rPr dirty="0" err="1"/>
              <a:t>복사하여</a:t>
            </a:r>
            <a:r>
              <a:rPr dirty="0"/>
              <a:t> 이 </a:t>
            </a:r>
            <a:r>
              <a:rPr dirty="0" err="1"/>
              <a:t>영역</a:t>
            </a:r>
            <a:r>
              <a:rPr dirty="0"/>
              <a:t> </a:t>
            </a:r>
            <a:r>
              <a:rPr dirty="0" err="1"/>
              <a:t>위에</a:t>
            </a:r>
            <a:r>
              <a:rPr dirty="0"/>
              <a:t> </a:t>
            </a:r>
            <a:r>
              <a:rPr dirty="0" err="1"/>
              <a:t>붙여넣으세요</a:t>
            </a:r>
            <a:r>
              <a:rPr dirty="0"/>
              <a:t>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2414FB4-C3B6-4688-9FFC-4968983D4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0900" y="2461869"/>
            <a:ext cx="6687574" cy="2940102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9035B26F-D264-4944-8E01-D4F8F0DBCF93}"/>
              </a:ext>
            </a:extLst>
          </p:cNvPr>
          <p:cNvSpPr/>
          <p:nvPr/>
        </p:nvSpPr>
        <p:spPr>
          <a:xfrm>
            <a:off x="5814323" y="3033286"/>
            <a:ext cx="826113" cy="11540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E7C8FAB-7A85-4CFB-BAD6-AB929DA312FA}"/>
              </a:ext>
            </a:extLst>
          </p:cNvPr>
          <p:cNvSpPr/>
          <p:nvPr/>
        </p:nvSpPr>
        <p:spPr>
          <a:xfrm>
            <a:off x="9176582" y="2730588"/>
            <a:ext cx="826113" cy="12754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Malgun Gothic"/>
              </a:rPr>
              <a:t>04 기온-이용량 관계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Malgun Gothic"/>
              </a:rPr>
              <a:t>전체 관측값의 상관관계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Malgun Gothic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937760" cy="42524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600" b="1" dirty="0">
                <a:solidFill>
                  <a:srgbClr val="1E40AF"/>
                </a:solidFill>
                <a:latin typeface="Malgun Gothic"/>
              </a:rPr>
              <a:t>1,494개 </a:t>
            </a:r>
            <a:r>
              <a:rPr sz="1600" b="1" dirty="0" err="1">
                <a:solidFill>
                  <a:srgbClr val="1E40AF"/>
                </a:solidFill>
                <a:latin typeface="Malgun Gothic"/>
              </a:rPr>
              <a:t>관측값을</a:t>
            </a:r>
            <a:r>
              <a:rPr sz="1600" b="1" dirty="0">
                <a:solidFill>
                  <a:srgbClr val="1E40AF"/>
                </a:solidFill>
                <a:latin typeface="Malgun Gothic"/>
              </a:rPr>
              <a:t> 한 </a:t>
            </a:r>
            <a:r>
              <a:rPr sz="1600" b="1" dirty="0" err="1">
                <a:solidFill>
                  <a:srgbClr val="1E40AF"/>
                </a:solidFill>
                <a:latin typeface="Malgun Gothic"/>
              </a:rPr>
              <a:t>번에</a:t>
            </a:r>
            <a:r>
              <a:rPr sz="16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Malgun Gothic"/>
              </a:rPr>
              <a:t>사용</a:t>
            </a:r>
            <a:endParaRPr sz="1600" b="1" dirty="0">
              <a:solidFill>
                <a:srgbClr val="1E40AF"/>
              </a:solidFill>
              <a:latin typeface="Malgun Gothic"/>
            </a:endParaRPr>
          </a:p>
          <a:p>
            <a:pPr>
              <a:spcAft>
                <a:spcPts val="1000"/>
              </a:spcAft>
            </a:pPr>
            <a:r>
              <a:rPr sz="1400" b="1" dirty="0" err="1">
                <a:solidFill>
                  <a:srgbClr val="0F172A"/>
                </a:solidFill>
                <a:latin typeface="Malgun Gothic"/>
              </a:rPr>
              <a:t>교통수단별</a:t>
            </a:r>
            <a:r>
              <a:rPr sz="1400" b="1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0F172A"/>
                </a:solidFill>
                <a:latin typeface="Malgun Gothic"/>
              </a:rPr>
              <a:t>상관계수</a:t>
            </a:r>
            <a:endParaRPr sz="1400" b="1" dirty="0">
              <a:solidFill>
                <a:srgbClr val="0F172A"/>
              </a:solidFill>
              <a:latin typeface="Malgun Gothic"/>
            </a:endParaRPr>
          </a:p>
          <a:p>
            <a:pPr>
              <a:spcAft>
                <a:spcPts val="2000"/>
              </a:spcAft>
            </a:pPr>
            <a:r>
              <a:rPr sz="1300" dirty="0">
                <a:solidFill>
                  <a:srgbClr val="0F172A"/>
                </a:solidFill>
                <a:latin typeface="Malgun Gothic"/>
              </a:rPr>
              <a:t>• Pearson</a:t>
            </a:r>
            <a:br>
              <a:rPr dirty="0"/>
            </a:br>
            <a:r>
              <a:rPr dirty="0"/>
              <a:t>  - </a:t>
            </a:r>
            <a:r>
              <a:rPr dirty="0" err="1"/>
              <a:t>따릉이</a:t>
            </a:r>
            <a:r>
              <a:rPr dirty="0"/>
              <a:t>: 0.423  |  </a:t>
            </a:r>
            <a:r>
              <a:rPr dirty="0" err="1"/>
              <a:t>지하철</a:t>
            </a:r>
            <a:r>
              <a:rPr dirty="0"/>
              <a:t>: 0.013</a:t>
            </a:r>
            <a:br>
              <a:rPr dirty="0"/>
            </a:br>
            <a:r>
              <a:rPr dirty="0"/>
              <a:t>• Spearman</a:t>
            </a:r>
            <a:br>
              <a:rPr dirty="0"/>
            </a:br>
            <a:r>
              <a:rPr dirty="0"/>
              <a:t>  - </a:t>
            </a:r>
            <a:r>
              <a:rPr dirty="0" err="1"/>
              <a:t>따릉이</a:t>
            </a:r>
            <a:r>
              <a:rPr dirty="0"/>
              <a:t>: 0.463  |  </a:t>
            </a:r>
            <a:r>
              <a:rPr dirty="0" err="1"/>
              <a:t>지하철</a:t>
            </a:r>
            <a:r>
              <a:rPr dirty="0"/>
              <a:t>: 0.016</a:t>
            </a:r>
          </a:p>
          <a:p>
            <a:pPr>
              <a:spcAft>
                <a:spcPts val="2000"/>
              </a:spcAft>
            </a:pPr>
            <a:r>
              <a:rPr sz="1300" b="1" dirty="0" err="1">
                <a:solidFill>
                  <a:srgbClr val="15803D"/>
                </a:solidFill>
                <a:latin typeface="Malgun Gothic"/>
              </a:rPr>
              <a:t>해석</a:t>
            </a:r>
            <a:br>
              <a:rPr dirty="0"/>
            </a:br>
            <a:r>
              <a:rPr dirty="0" err="1"/>
              <a:t>따릉이는</a:t>
            </a:r>
            <a:r>
              <a:rPr dirty="0"/>
              <a:t> 양(+)의 </a:t>
            </a:r>
            <a:r>
              <a:rPr dirty="0" err="1"/>
              <a:t>관계가</a:t>
            </a:r>
            <a:r>
              <a:rPr dirty="0"/>
              <a:t> </a:t>
            </a:r>
            <a:r>
              <a:rPr dirty="0" err="1"/>
              <a:t>나타났지만</a:t>
            </a:r>
            <a:br>
              <a:rPr dirty="0"/>
            </a:br>
            <a:r>
              <a:rPr dirty="0" err="1"/>
              <a:t>지하철은</a:t>
            </a:r>
            <a:r>
              <a:rPr dirty="0"/>
              <a:t> </a:t>
            </a:r>
            <a:r>
              <a:rPr dirty="0" err="1"/>
              <a:t>전체적으로</a:t>
            </a:r>
            <a:r>
              <a:rPr dirty="0"/>
              <a:t> </a:t>
            </a:r>
            <a:r>
              <a:rPr dirty="0" err="1"/>
              <a:t>거의</a:t>
            </a:r>
            <a:r>
              <a:rPr dirty="0"/>
              <a:t> </a:t>
            </a:r>
            <a:r>
              <a:rPr dirty="0" err="1"/>
              <a:t>관계가</a:t>
            </a:r>
            <a:r>
              <a:rPr dirty="0"/>
              <a:t> </a:t>
            </a:r>
            <a:r>
              <a:rPr dirty="0" err="1"/>
              <a:t>없습니다</a:t>
            </a:r>
            <a:r>
              <a:rPr dirty="0"/>
              <a:t>.</a:t>
            </a:r>
          </a:p>
          <a:p>
            <a:r>
              <a:rPr sz="1200" b="1" dirty="0" err="1">
                <a:solidFill>
                  <a:srgbClr val="F59E0B"/>
                </a:solidFill>
                <a:latin typeface="Malgun Gothic"/>
              </a:rPr>
              <a:t>주의</a:t>
            </a:r>
            <a:br>
              <a:rPr dirty="0"/>
            </a:br>
            <a:r>
              <a:rPr dirty="0" err="1"/>
              <a:t>상관관계는</a:t>
            </a:r>
            <a:r>
              <a:rPr dirty="0"/>
              <a:t> </a:t>
            </a:r>
            <a:r>
              <a:rPr dirty="0" err="1"/>
              <a:t>인과관계가</a:t>
            </a:r>
            <a:r>
              <a:rPr dirty="0"/>
              <a:t> </a:t>
            </a:r>
            <a:r>
              <a:rPr dirty="0" err="1"/>
              <a:t>아닙니다</a:t>
            </a:r>
            <a:r>
              <a:rPr dirty="0"/>
              <a:t>. </a:t>
            </a:r>
            <a:endParaRPr lang="en-US" dirty="0"/>
          </a:p>
          <a:p>
            <a:r>
              <a:rPr dirty="0"/>
              <a:t>이 </a:t>
            </a:r>
            <a:r>
              <a:rPr dirty="0" err="1"/>
              <a:t>수치만으로</a:t>
            </a:r>
            <a:r>
              <a:rPr dirty="0"/>
              <a:t> ‘</a:t>
            </a:r>
            <a:r>
              <a:rPr dirty="0" err="1"/>
              <a:t>기온이</a:t>
            </a:r>
            <a:r>
              <a:rPr dirty="0"/>
              <a:t> </a:t>
            </a:r>
            <a:r>
              <a:rPr dirty="0" err="1"/>
              <a:t>이용량을</a:t>
            </a:r>
            <a:r>
              <a:rPr dirty="0"/>
              <a:t> </a:t>
            </a:r>
            <a:r>
              <a:rPr dirty="0" err="1"/>
              <a:t>변화시켰다’고</a:t>
            </a:r>
            <a:r>
              <a:rPr dirty="0"/>
              <a:t> </a:t>
            </a:r>
            <a:r>
              <a:rPr dirty="0" err="1"/>
              <a:t>단정할</a:t>
            </a:r>
            <a:r>
              <a:rPr dirty="0"/>
              <a:t> 수 </a:t>
            </a:r>
            <a:r>
              <a:rPr dirty="0" err="1"/>
              <a:t>없습니다</a:t>
            </a:r>
            <a:r>
              <a:rPr dirty="0"/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1645920"/>
            <a:ext cx="5608015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200" b="1" dirty="0">
                <a:solidFill>
                  <a:srgbClr val="64748B"/>
                </a:solidFill>
                <a:latin typeface="Malgun Gothic"/>
              </a:rPr>
              <a:t>📊</a:t>
            </a:r>
            <a:br>
              <a:rPr dirty="0"/>
            </a:br>
            <a:br>
              <a:rPr dirty="0"/>
            </a:br>
            <a:r>
              <a:rPr dirty="0"/>
              <a:t>[</a:t>
            </a:r>
            <a:r>
              <a:rPr dirty="0" err="1"/>
              <a:t>변수</a:t>
            </a:r>
            <a:r>
              <a:rPr dirty="0"/>
              <a:t> 간 Spearman </a:t>
            </a:r>
            <a:r>
              <a:rPr dirty="0" err="1"/>
              <a:t>상관관계</a:t>
            </a:r>
            <a:r>
              <a:rPr dirty="0"/>
              <a:t> </a:t>
            </a:r>
            <a:r>
              <a:rPr dirty="0" err="1"/>
              <a:t>히트맵</a:t>
            </a:r>
            <a:r>
              <a:rPr dirty="0"/>
              <a:t>]</a:t>
            </a:r>
            <a:br>
              <a:rPr dirty="0"/>
            </a:br>
            <a:r>
              <a:rPr dirty="0"/>
              <a:t>(</a:t>
            </a:r>
            <a:r>
              <a:rPr dirty="0" err="1"/>
              <a:t>기존</a:t>
            </a:r>
            <a:r>
              <a:rPr dirty="0"/>
              <a:t> </a:t>
            </a:r>
            <a:r>
              <a:rPr dirty="0" err="1"/>
              <a:t>그래프</a:t>
            </a:r>
            <a:r>
              <a:rPr dirty="0"/>
              <a:t> </a:t>
            </a:r>
            <a:r>
              <a:rPr dirty="0" err="1"/>
              <a:t>이미지를</a:t>
            </a:r>
            <a:r>
              <a:rPr dirty="0"/>
              <a:t> </a:t>
            </a:r>
            <a:r>
              <a:rPr dirty="0" err="1"/>
              <a:t>복사하여</a:t>
            </a:r>
            <a:r>
              <a:rPr dirty="0"/>
              <a:t> 이 </a:t>
            </a:r>
            <a:r>
              <a:rPr dirty="0" err="1"/>
              <a:t>영역</a:t>
            </a:r>
            <a:r>
              <a:rPr dirty="0"/>
              <a:t> </a:t>
            </a:r>
            <a:r>
              <a:rPr dirty="0" err="1"/>
              <a:t>위에</a:t>
            </a:r>
            <a:r>
              <a:rPr dirty="0"/>
              <a:t> </a:t>
            </a:r>
            <a:r>
              <a:rPr dirty="0" err="1"/>
              <a:t>붙여넣으세요</a:t>
            </a:r>
            <a:r>
              <a:rPr dirty="0"/>
              <a:t>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6368D89-AEA0-4256-848F-2DC2A4B61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8431" y="1765375"/>
            <a:ext cx="5541232" cy="433309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6C3163C-F3D1-4BB4-A8E0-8C7F13AFA5A9}"/>
              </a:ext>
            </a:extLst>
          </p:cNvPr>
          <p:cNvSpPr/>
          <p:nvPr/>
        </p:nvSpPr>
        <p:spPr>
          <a:xfrm>
            <a:off x="6095847" y="2093661"/>
            <a:ext cx="1723850" cy="3987585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Malgun Gothic"/>
              </a:rPr>
              <a:t>04 기온-이용량 관계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Malgun Gothic"/>
              </a:rPr>
              <a:t>상관계수란?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Malgun Gothic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</a:pPr>
            <a:r>
              <a:rPr sz="1600" b="1" dirty="0">
                <a:solidFill>
                  <a:srgbClr val="1E40AF"/>
                </a:solidFill>
                <a:latin typeface="Malgun Gothic"/>
              </a:rPr>
              <a:t>두 </a:t>
            </a:r>
            <a:r>
              <a:rPr sz="1600" b="1" dirty="0" err="1">
                <a:solidFill>
                  <a:srgbClr val="1E40AF"/>
                </a:solidFill>
                <a:latin typeface="Malgun Gothic"/>
              </a:rPr>
              <a:t>변수가</a:t>
            </a:r>
            <a:r>
              <a:rPr sz="16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Malgun Gothic"/>
              </a:rPr>
              <a:t>함께</a:t>
            </a:r>
            <a:r>
              <a:rPr sz="16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Malgun Gothic"/>
              </a:rPr>
              <a:t>움직이는</a:t>
            </a:r>
            <a:r>
              <a:rPr sz="16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Malgun Gothic"/>
              </a:rPr>
              <a:t>정도와</a:t>
            </a:r>
            <a:r>
              <a:rPr sz="16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Malgun Gothic"/>
              </a:rPr>
              <a:t>방향을</a:t>
            </a:r>
            <a:br>
              <a:rPr dirty="0"/>
            </a:br>
            <a:r>
              <a:rPr dirty="0"/>
              <a:t>-1 ~ +1로 </a:t>
            </a:r>
            <a:r>
              <a:rPr dirty="0" err="1"/>
              <a:t>표현합니다</a:t>
            </a:r>
            <a:r>
              <a:rPr dirty="0"/>
              <a:t>.</a:t>
            </a:r>
          </a:p>
          <a:p>
            <a:pPr>
              <a:spcAft>
                <a:spcPts val="600"/>
              </a:spcAft>
            </a:pPr>
            <a:r>
              <a:rPr sz="1400" b="1" dirty="0">
                <a:solidFill>
                  <a:srgbClr val="15803D"/>
                </a:solidFill>
                <a:latin typeface="Malgun Gothic"/>
              </a:rPr>
              <a:t>Pearson</a:t>
            </a:r>
          </a:p>
          <a:p>
            <a:pPr>
              <a:spcAft>
                <a:spcPts val="2000"/>
              </a:spcAft>
            </a:pPr>
            <a:r>
              <a:rPr sz="1300" dirty="0" err="1">
                <a:solidFill>
                  <a:srgbClr val="0F172A"/>
                </a:solidFill>
                <a:latin typeface="Malgun Gothic"/>
              </a:rPr>
              <a:t>따릉이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0.423</a:t>
            </a:r>
            <a:br>
              <a:rPr dirty="0"/>
            </a:br>
            <a:r>
              <a:rPr dirty="0" err="1"/>
              <a:t>지하철</a:t>
            </a:r>
            <a:r>
              <a:rPr dirty="0"/>
              <a:t> 0.013</a:t>
            </a:r>
          </a:p>
          <a:p>
            <a:pPr>
              <a:spcAft>
                <a:spcPts val="600"/>
              </a:spcAft>
            </a:pPr>
            <a:r>
              <a:rPr sz="1400" b="1" dirty="0">
                <a:solidFill>
                  <a:srgbClr val="15803D"/>
                </a:solidFill>
                <a:latin typeface="Malgun Gothic"/>
              </a:rPr>
              <a:t>Spearman</a:t>
            </a:r>
          </a:p>
          <a:p>
            <a:r>
              <a:rPr sz="1300" dirty="0" err="1">
                <a:solidFill>
                  <a:srgbClr val="0F172A"/>
                </a:solidFill>
                <a:latin typeface="Malgun Gothic"/>
              </a:rPr>
              <a:t>따릉이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0.463</a:t>
            </a:r>
            <a:br>
              <a:rPr dirty="0"/>
            </a:br>
            <a:r>
              <a:rPr dirty="0" err="1"/>
              <a:t>지하철</a:t>
            </a:r>
            <a:r>
              <a:rPr dirty="0"/>
              <a:t> 0.016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56080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0" y="1828800"/>
            <a:ext cx="52422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5803D"/>
                </a:solidFill>
                <a:latin typeface="Malgun Gothic"/>
              </a:rPr>
              <a:t>해석</a:t>
            </a:r>
          </a:p>
          <a:p>
            <a:r>
              <a:rPr sz="1300">
                <a:solidFill>
                  <a:srgbClr val="0F172A"/>
                </a:solidFill>
                <a:latin typeface="Malgun Gothic"/>
              </a:rPr>
              <a:t>따릉이는 양(+)의 관계가 나타났지만</a:t>
            </a:r>
            <a:br/>
            <a:r>
              <a:t>지하철은 전체적으로 거의 관계가 없습니다.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023360"/>
            <a:ext cx="56080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0" y="4206240"/>
            <a:ext cx="52422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59E0B"/>
                </a:solidFill>
                <a:latin typeface="Malgun Gothic"/>
              </a:rPr>
              <a:t>주의</a:t>
            </a:r>
          </a:p>
          <a:p>
            <a:r>
              <a:rPr sz="1300">
                <a:solidFill>
                  <a:srgbClr val="0F172A"/>
                </a:solidFill>
                <a:latin typeface="Malgun Gothic"/>
              </a:rPr>
              <a:t>상관관계는 인과관계가 아닙니다. 이 수치만으로 ‘기온이 이용량을 변화시켰다’고 단정할 수 없습니다.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578815" y="1424978"/>
            <a:ext cx="11064240" cy="3825164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dirty="0"/>
          </a:p>
        </p:txBody>
      </p:sp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Malgun Gothic"/>
              </a:rPr>
              <a:t>04 기온-이용량 관계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Malgun Gothic"/>
              </a:rPr>
              <a:t>일별·시간대별로 관계 재확인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Malgun Gothic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5322532"/>
            <a:ext cx="11064240" cy="142090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5322532"/>
            <a:ext cx="10080749" cy="14209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400" b="1" dirty="0" err="1">
                <a:solidFill>
                  <a:srgbClr val="1E40AF"/>
                </a:solidFill>
                <a:latin typeface="Malgun Gothic"/>
              </a:rPr>
              <a:t>전체</a:t>
            </a:r>
            <a:r>
              <a:rPr sz="14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Malgun Gothic"/>
              </a:rPr>
              <a:t>상관관계가</a:t>
            </a:r>
            <a:r>
              <a:rPr sz="14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Malgun Gothic"/>
              </a:rPr>
              <a:t>시간대</a:t>
            </a:r>
            <a:r>
              <a:rPr sz="14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Malgun Gothic"/>
              </a:rPr>
              <a:t>구조에만</a:t>
            </a:r>
            <a:r>
              <a:rPr sz="14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Malgun Gothic"/>
              </a:rPr>
              <a:t>의해</a:t>
            </a:r>
            <a:r>
              <a:rPr lang="en-US" sz="14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Malgun Gothic"/>
              </a:rPr>
              <a:t>나타난</a:t>
            </a:r>
            <a:r>
              <a:rPr sz="14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Malgun Gothic"/>
              </a:rPr>
              <a:t>것은</a:t>
            </a:r>
            <a:r>
              <a:rPr sz="14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Malgun Gothic"/>
              </a:rPr>
              <a:t>아닌지</a:t>
            </a:r>
            <a:r>
              <a:rPr sz="14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Malgun Gothic"/>
              </a:rPr>
              <a:t>확인</a:t>
            </a:r>
            <a:endParaRPr sz="1400" b="1" dirty="0">
              <a:solidFill>
                <a:srgbClr val="1E40AF"/>
              </a:solidFill>
              <a:latin typeface="Malgun Gothic"/>
            </a:endParaRPr>
          </a:p>
          <a:p>
            <a:pPr>
              <a:spcAft>
                <a:spcPts val="1000"/>
              </a:spcAft>
            </a:pPr>
            <a:r>
              <a:rPr lang="en-US" altLang="ko-KR" sz="1300" dirty="0">
                <a:solidFill>
                  <a:srgbClr val="0F172A"/>
                </a:solidFill>
                <a:latin typeface="Malgun Gothic"/>
              </a:rPr>
              <a:t>	</a:t>
            </a:r>
            <a:r>
              <a:rPr lang="ko-KR" altLang="en-US" sz="1300" dirty="0">
                <a:solidFill>
                  <a:srgbClr val="0F172A"/>
                </a:solidFill>
                <a:latin typeface="Malgun Gothic"/>
              </a:rPr>
              <a:t>① 일별</a:t>
            </a:r>
            <a:r>
              <a:rPr lang="en-US" altLang="ko-KR" sz="1300" dirty="0">
                <a:solidFill>
                  <a:srgbClr val="0F172A"/>
                </a:solidFill>
                <a:latin typeface="Malgun Gothic"/>
              </a:rPr>
              <a:t> : 18</a:t>
            </a:r>
            <a:r>
              <a:rPr lang="ko-KR" altLang="en-US" sz="1300" dirty="0">
                <a:solidFill>
                  <a:srgbClr val="0F172A"/>
                </a:solidFill>
                <a:latin typeface="Malgun Gothic"/>
              </a:rPr>
              <a:t>개의 시간대의 </a:t>
            </a:r>
            <a:r>
              <a:rPr lang="ko-KR" altLang="en-US" sz="1300" dirty="0" err="1">
                <a:solidFill>
                  <a:srgbClr val="0F172A"/>
                </a:solidFill>
                <a:latin typeface="Malgun Gothic"/>
              </a:rPr>
              <a:t>이용량을</a:t>
            </a:r>
            <a:r>
              <a:rPr lang="ko-KR" altLang="en-US" sz="1300" dirty="0">
                <a:solidFill>
                  <a:srgbClr val="0F172A"/>
                </a:solidFill>
                <a:latin typeface="Malgun Gothic"/>
              </a:rPr>
              <a:t> 하루 단위로 묶어서 </a:t>
            </a:r>
            <a:r>
              <a:rPr lang="en-US" altLang="ko-KR" sz="1300" dirty="0">
                <a:solidFill>
                  <a:srgbClr val="0F172A"/>
                </a:solidFill>
                <a:latin typeface="Malgun Gothic"/>
              </a:rPr>
              <a:t>83</a:t>
            </a:r>
            <a:r>
              <a:rPr lang="ko-KR" altLang="en-US" sz="1300" dirty="0">
                <a:solidFill>
                  <a:srgbClr val="0F172A"/>
                </a:solidFill>
                <a:latin typeface="Malgun Gothic"/>
              </a:rPr>
              <a:t>일을 비교</a:t>
            </a:r>
            <a:endParaRPr lang="en-US" altLang="ko-KR" sz="1300" dirty="0">
              <a:solidFill>
                <a:srgbClr val="0F172A"/>
              </a:solidFill>
              <a:latin typeface="Malgun Gothic"/>
            </a:endParaRPr>
          </a:p>
          <a:p>
            <a:pPr>
              <a:spcAft>
                <a:spcPts val="1000"/>
              </a:spcAft>
            </a:pPr>
            <a:r>
              <a:rPr lang="en-US" altLang="ko-KR" sz="1300" dirty="0">
                <a:solidFill>
                  <a:srgbClr val="0F172A"/>
                </a:solidFill>
                <a:latin typeface="Malgun Gothic"/>
              </a:rPr>
              <a:t>	</a:t>
            </a:r>
            <a:r>
              <a:rPr lang="ko-KR" altLang="en-US" sz="1300" dirty="0">
                <a:solidFill>
                  <a:srgbClr val="0F172A"/>
                </a:solidFill>
                <a:latin typeface="Malgun Gothic"/>
              </a:rPr>
              <a:t>② 시간대별 </a:t>
            </a:r>
            <a:r>
              <a:rPr lang="en-US" altLang="ko-KR" sz="1300" dirty="0">
                <a:solidFill>
                  <a:srgbClr val="0F172A"/>
                </a:solidFill>
                <a:latin typeface="Malgun Gothic"/>
              </a:rPr>
              <a:t>: </a:t>
            </a:r>
            <a:r>
              <a:rPr lang="ko-KR" altLang="en-US" sz="1300" dirty="0">
                <a:solidFill>
                  <a:srgbClr val="0F172A"/>
                </a:solidFill>
                <a:latin typeface="Malgun Gothic"/>
              </a:rPr>
              <a:t>동일 시간대의 </a:t>
            </a:r>
            <a:r>
              <a:rPr lang="en-US" altLang="ko-KR" sz="1300" dirty="0">
                <a:solidFill>
                  <a:srgbClr val="0F172A"/>
                </a:solidFill>
                <a:latin typeface="Malgun Gothic"/>
              </a:rPr>
              <a:t>83</a:t>
            </a:r>
            <a:r>
              <a:rPr lang="ko-KR" altLang="en-US" sz="1300" dirty="0">
                <a:solidFill>
                  <a:srgbClr val="0F172A"/>
                </a:solidFill>
                <a:latin typeface="Malgun Gothic"/>
              </a:rPr>
              <a:t>일 자료만 묶어 상관계수 계사</a:t>
            </a:r>
          </a:p>
          <a:p>
            <a:pPr>
              <a:spcAft>
                <a:spcPts val="1000"/>
              </a:spcAft>
            </a:pPr>
            <a:r>
              <a:rPr lang="ko-KR" altLang="en-US" sz="1300" dirty="0">
                <a:solidFill>
                  <a:srgbClr val="0F172A"/>
                </a:solidFill>
                <a:latin typeface="Malgun Gothic"/>
              </a:rPr>
              <a:t>	③ </a:t>
            </a:r>
            <a:r>
              <a:rPr lang="en-US" altLang="ko-KR" sz="1300" dirty="0">
                <a:solidFill>
                  <a:srgbClr val="0F172A"/>
                </a:solidFill>
                <a:latin typeface="Malgun Gothic"/>
              </a:rPr>
              <a:t>18</a:t>
            </a:r>
            <a:r>
              <a:rPr lang="ko-KR" altLang="en-US" sz="1300" dirty="0">
                <a:solidFill>
                  <a:srgbClr val="0F172A"/>
                </a:solidFill>
                <a:latin typeface="Malgun Gothic"/>
              </a:rPr>
              <a:t>개의 시간대의 상관관계 비교</a:t>
            </a:r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30F03DF6-D37F-4C31-9395-E202BCAF9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238" y="1863561"/>
            <a:ext cx="5224241" cy="2723246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F6F12FD7-11A5-4C36-AF0F-6934519253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7425" y="1472489"/>
            <a:ext cx="3081770" cy="1828876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7AF73CD8-822B-4345-BD00-7022BAE1E4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9070" y="3373755"/>
            <a:ext cx="3081770" cy="18288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Malgun Gothic"/>
              </a:rPr>
              <a:t>04 기온-이용량 관계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Malgun Gothic"/>
              </a:rPr>
              <a:t>기온 구간별 이용 변화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Malgun Gothic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41148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374903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400" b="1" dirty="0" err="1">
                <a:solidFill>
                  <a:srgbClr val="1E40AF"/>
                </a:solidFill>
                <a:latin typeface="Malgun Gothic"/>
              </a:rPr>
              <a:t>절대</a:t>
            </a:r>
            <a:r>
              <a:rPr sz="14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Malgun Gothic"/>
              </a:rPr>
              <a:t>이용량과</a:t>
            </a:r>
            <a:r>
              <a:rPr sz="14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Malgun Gothic"/>
              </a:rPr>
              <a:t>상대</a:t>
            </a:r>
            <a:r>
              <a:rPr sz="14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Malgun Gothic"/>
              </a:rPr>
              <a:t>이용</a:t>
            </a:r>
            <a:r>
              <a:rPr sz="14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Malgun Gothic"/>
              </a:rPr>
              <a:t>수준을</a:t>
            </a:r>
            <a:r>
              <a:rPr sz="14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Malgun Gothic"/>
              </a:rPr>
              <a:t>함께</a:t>
            </a:r>
            <a:r>
              <a:rPr sz="14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Malgun Gothic"/>
              </a:rPr>
              <a:t>확인</a:t>
            </a:r>
            <a:endParaRPr sz="1400" b="1" dirty="0">
              <a:solidFill>
                <a:srgbClr val="1E40AF"/>
              </a:solidFill>
              <a:latin typeface="Malgun Gothic"/>
            </a:endParaRPr>
          </a:p>
          <a:p>
            <a:pPr>
              <a:spcAft>
                <a:spcPts val="1000"/>
              </a:spcAft>
            </a:pPr>
            <a:r>
              <a:rPr sz="1600" b="1" dirty="0" err="1">
                <a:solidFill>
                  <a:srgbClr val="15803D"/>
                </a:solidFill>
                <a:latin typeface="Malgun Gothic"/>
              </a:rPr>
              <a:t>이용지수란</a:t>
            </a:r>
            <a:r>
              <a:rPr sz="1600" b="1" dirty="0">
                <a:solidFill>
                  <a:srgbClr val="15803D"/>
                </a:solidFill>
                <a:latin typeface="Malgun Gothic"/>
              </a:rPr>
              <a:t>?</a:t>
            </a:r>
          </a:p>
          <a:p>
            <a:r>
              <a:rPr sz="1300" dirty="0" err="1">
                <a:solidFill>
                  <a:srgbClr val="0F172A"/>
                </a:solidFill>
                <a:latin typeface="Malgun Gothic"/>
              </a:rPr>
              <a:t>전체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평균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이용량을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100으로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두고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, 각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기온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구간의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이용량이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평소보다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높은지·낮은지를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상대적으로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나타낸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값입니다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.</a:t>
            </a:r>
            <a:r>
              <a:rPr lang="ko-KR" altLang="en-US"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교통수단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규모가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달라도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같은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기준으로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비교할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수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있습니다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645920"/>
            <a:ext cx="6796735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lang="en-US" altLang="ko-KR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C306047-7216-418B-A4B4-AE5806767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2181" y="1739120"/>
            <a:ext cx="5305012" cy="2765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576F03D-114C-4FAC-9632-816AE16EEF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3107" y="4580484"/>
            <a:ext cx="3003553" cy="156566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99AF98E-EE84-44AD-9A78-51B438F071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7937" y="4580484"/>
            <a:ext cx="3003553" cy="156566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Malgun Gothic"/>
              </a:rPr>
              <a:t>04 기온-이용량 관계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Malgun Gothic"/>
              </a:rPr>
              <a:t>월 × 시간대 이용 패턴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Malgun Gothic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4782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rgbClr val="1E40AF"/>
                </a:solidFill>
                <a:latin typeface="Malgun Gothic"/>
              </a:rPr>
              <a:t>상관계수와</a:t>
            </a:r>
            <a:r>
              <a:rPr sz="14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Malgun Gothic"/>
              </a:rPr>
              <a:t>별개로</a:t>
            </a:r>
            <a:r>
              <a:rPr sz="14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Malgun Gothic"/>
              </a:rPr>
              <a:t>계절·시간대의</a:t>
            </a:r>
            <a:r>
              <a:rPr sz="14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Malgun Gothic"/>
              </a:rPr>
              <a:t>기본</a:t>
            </a:r>
            <a:r>
              <a:rPr sz="14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Malgun Gothic"/>
              </a:rPr>
              <a:t>이용</a:t>
            </a:r>
            <a:r>
              <a:rPr sz="14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Malgun Gothic"/>
              </a:rPr>
              <a:t>수준을</a:t>
            </a:r>
            <a:r>
              <a:rPr sz="1400" b="1" dirty="0">
                <a:solidFill>
                  <a:srgbClr val="1E40A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Malgun Gothic"/>
              </a:rPr>
              <a:t>확인</a:t>
            </a:r>
            <a:endParaRPr sz="1400" b="1" dirty="0">
              <a:solidFill>
                <a:srgbClr val="1E40AF"/>
              </a:solidFill>
              <a:latin typeface="Malgun Gothic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30022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3749039" cy="2816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15803D"/>
                </a:solidFill>
                <a:latin typeface="Malgun Gothic"/>
              </a:rPr>
              <a:t>따릉이</a:t>
            </a:r>
            <a:endParaRPr sz="1400" b="1" dirty="0">
              <a:solidFill>
                <a:srgbClr val="15803D"/>
              </a:solidFill>
              <a:latin typeface="Malgun Gothic"/>
            </a:endParaRPr>
          </a:p>
          <a:p>
            <a:pPr>
              <a:spcAft>
                <a:spcPts val="1400"/>
              </a:spcAft>
            </a:pPr>
            <a:r>
              <a:rPr sz="1400" b="1" dirty="0" err="1">
                <a:solidFill>
                  <a:srgbClr val="1E40AF"/>
                </a:solidFill>
                <a:latin typeface="Malgun Gothic"/>
              </a:rPr>
              <a:t>지하철</a:t>
            </a:r>
            <a:endParaRPr sz="1400" b="1" dirty="0">
              <a:solidFill>
                <a:srgbClr val="1E40AF"/>
              </a:solidFill>
              <a:latin typeface="Malgun Gothic"/>
            </a:endParaRPr>
          </a:p>
          <a:p>
            <a:pPr>
              <a:spcAft>
                <a:spcPts val="600"/>
              </a:spcAft>
            </a:pPr>
            <a:r>
              <a:rPr sz="1500" b="1" dirty="0" err="1">
                <a:solidFill>
                  <a:srgbClr val="0F172A"/>
                </a:solidFill>
                <a:latin typeface="Malgun Gothic"/>
              </a:rPr>
              <a:t>해석</a:t>
            </a:r>
            <a:endParaRPr sz="1500" b="1" dirty="0">
              <a:solidFill>
                <a:srgbClr val="0F172A"/>
              </a:solidFill>
              <a:latin typeface="Malgun Gothic"/>
            </a:endParaRPr>
          </a:p>
          <a:p>
            <a:r>
              <a:rPr sz="1200" b="1" dirty="0" err="1">
                <a:solidFill>
                  <a:srgbClr val="64748B"/>
                </a:solidFill>
                <a:latin typeface="Malgun Gothic"/>
              </a:rPr>
              <a:t>지하철은</a:t>
            </a:r>
            <a:r>
              <a:rPr sz="1200" b="1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Malgun Gothic"/>
              </a:rPr>
              <a:t>월별</a:t>
            </a:r>
            <a:r>
              <a:rPr sz="1200" b="1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Malgun Gothic"/>
              </a:rPr>
              <a:t>수준</a:t>
            </a:r>
            <a:r>
              <a:rPr sz="1200" b="1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Malgun Gothic"/>
              </a:rPr>
              <a:t>차이가</a:t>
            </a:r>
            <a:r>
              <a:rPr sz="1200" b="1" dirty="0">
                <a:solidFill>
                  <a:srgbClr val="64748B"/>
                </a:solidFill>
                <a:latin typeface="Malgun Gothic"/>
              </a:rPr>
              <a:t> </a:t>
            </a:r>
            <a:br>
              <a:rPr lang="en-US" sz="1200" b="1" dirty="0">
                <a:solidFill>
                  <a:srgbClr val="64748B"/>
                </a:solidFill>
                <a:latin typeface="Malgun Gothic"/>
              </a:rPr>
            </a:br>
            <a:r>
              <a:rPr sz="1200" b="1" dirty="0" err="1">
                <a:solidFill>
                  <a:srgbClr val="64748B"/>
                </a:solidFill>
                <a:latin typeface="Malgun Gothic"/>
              </a:rPr>
              <a:t>상대적으로</a:t>
            </a:r>
            <a:r>
              <a:rPr sz="1200" b="1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Malgun Gothic"/>
              </a:rPr>
              <a:t>작고</a:t>
            </a:r>
            <a:r>
              <a:rPr sz="1200" b="1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Malgun Gothic"/>
              </a:rPr>
              <a:t>시간대</a:t>
            </a:r>
            <a:r>
              <a:rPr sz="1200" b="1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Malgun Gothic"/>
              </a:rPr>
              <a:t>패턴이</a:t>
            </a:r>
            <a:r>
              <a:rPr sz="1200" b="1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Malgun Gothic"/>
              </a:rPr>
              <a:t>반복</a:t>
            </a:r>
            <a:r>
              <a:rPr lang="en-US" sz="1200" b="1" dirty="0">
                <a:solidFill>
                  <a:srgbClr val="64748B"/>
                </a:solidFill>
                <a:latin typeface="Malgun Gothic"/>
              </a:rPr>
              <a:t>,</a:t>
            </a:r>
            <a:br>
              <a:rPr dirty="0"/>
            </a:br>
            <a:br>
              <a:rPr dirty="0"/>
            </a:br>
            <a:r>
              <a:rPr dirty="0" err="1"/>
              <a:t>따릉이는</a:t>
            </a:r>
            <a:r>
              <a:rPr dirty="0"/>
              <a:t> </a:t>
            </a:r>
            <a:r>
              <a:rPr dirty="0" err="1"/>
              <a:t>상대적으로</a:t>
            </a:r>
            <a:r>
              <a:rPr lang="en-US" dirty="0"/>
              <a:t> </a:t>
            </a:r>
            <a:br>
              <a:rPr lang="en-US" dirty="0"/>
            </a:br>
            <a:r>
              <a:rPr dirty="0" err="1"/>
              <a:t>따뜻한</a:t>
            </a:r>
            <a:r>
              <a:rPr dirty="0"/>
              <a:t> 3월·6월에서 </a:t>
            </a:r>
            <a:br>
              <a:rPr lang="en-US" dirty="0"/>
            </a:br>
            <a:r>
              <a:rPr dirty="0" err="1"/>
              <a:t>같은</a:t>
            </a:r>
            <a:r>
              <a:rPr dirty="0"/>
              <a:t> </a:t>
            </a:r>
            <a:r>
              <a:rPr dirty="0" err="1"/>
              <a:t>시간대</a:t>
            </a:r>
            <a:r>
              <a:rPr dirty="0"/>
              <a:t> </a:t>
            </a:r>
            <a:r>
              <a:rPr dirty="0" err="1"/>
              <a:t>이용</a:t>
            </a:r>
            <a:r>
              <a:rPr dirty="0"/>
              <a:t> </a:t>
            </a:r>
            <a:r>
              <a:rPr dirty="0" err="1"/>
              <a:t>수준이</a:t>
            </a:r>
            <a:r>
              <a:rPr dirty="0"/>
              <a:t> </a:t>
            </a:r>
            <a:br>
              <a:rPr lang="en-US" dirty="0"/>
            </a:br>
            <a:r>
              <a:rPr dirty="0"/>
              <a:t>더 </a:t>
            </a:r>
            <a:r>
              <a:rPr dirty="0" err="1"/>
              <a:t>높게</a:t>
            </a:r>
            <a:r>
              <a:rPr dirty="0"/>
              <a:t> </a:t>
            </a:r>
            <a:r>
              <a:rPr dirty="0" err="1"/>
              <a:t>나타납니다</a:t>
            </a:r>
            <a:r>
              <a:rPr dirty="0"/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33800" y="2011680"/>
            <a:ext cx="7909255" cy="448056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31155EF-F50E-4832-BBE1-3E07B89846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143" y="2118360"/>
            <a:ext cx="5484569" cy="213560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5B603EE-3EA9-4583-ACDD-C2BD235F8C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6143" y="4315864"/>
            <a:ext cx="5484569" cy="2122703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44A04F97-8380-4EC5-B5C8-321735D48ABB}"/>
              </a:ext>
            </a:extLst>
          </p:cNvPr>
          <p:cNvSpPr/>
          <p:nvPr/>
        </p:nvSpPr>
        <p:spPr>
          <a:xfrm>
            <a:off x="5279845" y="2574974"/>
            <a:ext cx="826113" cy="11540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89B6BAA-71ED-4DB4-AFD3-E0F738FF31D7}"/>
              </a:ext>
            </a:extLst>
          </p:cNvPr>
          <p:cNvSpPr/>
          <p:nvPr/>
        </p:nvSpPr>
        <p:spPr>
          <a:xfrm>
            <a:off x="7920596" y="2567941"/>
            <a:ext cx="826113" cy="11540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Malgun Gothic"/>
              </a:rPr>
              <a:t>05 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Malgun Gothic"/>
              </a:rPr>
              <a:t>이동수단별 기온 반응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Malgun Gothic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516380"/>
            <a:ext cx="4594860" cy="506349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0100" y="1699260"/>
            <a:ext cx="3749039" cy="2749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dirty="0" err="1">
                <a:solidFill>
                  <a:srgbClr val="15803D"/>
                </a:solidFill>
                <a:latin typeface="Malgun Gothic"/>
              </a:rPr>
              <a:t>따릉이</a:t>
            </a:r>
            <a:endParaRPr sz="1500" b="1" dirty="0">
              <a:solidFill>
                <a:srgbClr val="15803D"/>
              </a:solidFill>
              <a:latin typeface="Malgun Gothic"/>
            </a:endParaRPr>
          </a:p>
          <a:p>
            <a:pPr>
              <a:spcAft>
                <a:spcPts val="2000"/>
              </a:spcAft>
            </a:pPr>
            <a:r>
              <a:rPr sz="1300" dirty="0" err="1">
                <a:solidFill>
                  <a:srgbClr val="0F172A"/>
                </a:solidFill>
                <a:latin typeface="Malgun Gothic"/>
              </a:rPr>
              <a:t>기온과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이용량의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양(+)의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관계가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br>
              <a:rPr lang="en-US" sz="1300" dirty="0">
                <a:solidFill>
                  <a:srgbClr val="0F172A"/>
                </a:solidFill>
                <a:latin typeface="Malgun Gothic"/>
              </a:rPr>
            </a:br>
            <a:r>
              <a:rPr sz="1300" dirty="0" err="1">
                <a:solidFill>
                  <a:srgbClr val="0F172A"/>
                </a:solidFill>
                <a:latin typeface="Malgun Gothic"/>
              </a:rPr>
              <a:t>상대적으로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뚜렷</a:t>
            </a:r>
            <a:endParaRPr sz="1300" dirty="0">
              <a:solidFill>
                <a:srgbClr val="0F172A"/>
              </a:solidFill>
              <a:latin typeface="Malgun Gothic"/>
            </a:endParaRPr>
          </a:p>
          <a:p>
            <a:pPr>
              <a:spcAft>
                <a:spcPts val="600"/>
              </a:spcAft>
            </a:pPr>
            <a:r>
              <a:rPr sz="1500" b="1" dirty="0" err="1">
                <a:solidFill>
                  <a:srgbClr val="1E40AF"/>
                </a:solidFill>
                <a:latin typeface="Malgun Gothic"/>
              </a:rPr>
              <a:t>지하철</a:t>
            </a:r>
            <a:endParaRPr sz="1500" b="1" dirty="0">
              <a:solidFill>
                <a:srgbClr val="1E40AF"/>
              </a:solidFill>
              <a:latin typeface="Malgun Gothic"/>
            </a:endParaRPr>
          </a:p>
          <a:p>
            <a:pPr>
              <a:spcAft>
                <a:spcPts val="2400"/>
              </a:spcAft>
            </a:pPr>
            <a:r>
              <a:rPr sz="1300" dirty="0" err="1">
                <a:solidFill>
                  <a:srgbClr val="0F172A"/>
                </a:solidFill>
                <a:latin typeface="Malgun Gothic"/>
              </a:rPr>
              <a:t>기온과의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관계가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약하고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br>
              <a:rPr lang="en-US" sz="1300" dirty="0">
                <a:solidFill>
                  <a:srgbClr val="0F172A"/>
                </a:solidFill>
                <a:latin typeface="Malgun Gothic"/>
              </a:rPr>
            </a:br>
            <a:r>
              <a:rPr sz="1300" dirty="0" err="1">
                <a:solidFill>
                  <a:srgbClr val="0F172A"/>
                </a:solidFill>
                <a:latin typeface="Malgun Gothic"/>
              </a:rPr>
              <a:t>시간대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Malgun Gothic"/>
              </a:rPr>
              <a:t>영향이</a:t>
            </a:r>
            <a:r>
              <a:rPr sz="1300" dirty="0">
                <a:solidFill>
                  <a:srgbClr val="0F172A"/>
                </a:solidFill>
                <a:latin typeface="Malgun Gothic"/>
              </a:rPr>
              <a:t> 더 큼</a:t>
            </a:r>
          </a:p>
          <a:p>
            <a:pPr>
              <a:spcAft>
                <a:spcPts val="600"/>
              </a:spcAft>
            </a:pPr>
            <a:r>
              <a:rPr sz="1500" b="1" dirty="0" err="1">
                <a:solidFill>
                  <a:srgbClr val="F59E0B"/>
                </a:solidFill>
                <a:latin typeface="Malgun Gothic"/>
              </a:rPr>
              <a:t>주의</a:t>
            </a:r>
            <a:endParaRPr sz="1500" b="1" dirty="0">
              <a:solidFill>
                <a:srgbClr val="F59E0B"/>
              </a:solidFill>
              <a:latin typeface="Malgun Gothic"/>
            </a:endParaRPr>
          </a:p>
          <a:p>
            <a:r>
              <a:rPr sz="1200" b="1" dirty="0">
                <a:solidFill>
                  <a:srgbClr val="64748B"/>
                </a:solidFill>
                <a:latin typeface="Malgun Gothic"/>
              </a:rPr>
              <a:t>‘</a:t>
            </a:r>
            <a:r>
              <a:rPr sz="1200" b="1" dirty="0" err="1">
                <a:solidFill>
                  <a:srgbClr val="64748B"/>
                </a:solidFill>
                <a:latin typeface="Malgun Gothic"/>
              </a:rPr>
              <a:t>기온이</a:t>
            </a:r>
            <a:r>
              <a:rPr sz="1200" b="1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Malgun Gothic"/>
              </a:rPr>
              <a:t>원인’이라는</a:t>
            </a:r>
            <a:r>
              <a:rPr sz="1200" b="1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Malgun Gothic"/>
              </a:rPr>
              <a:t>뜻이</a:t>
            </a:r>
            <a:r>
              <a:rPr sz="1200" b="1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Malgun Gothic"/>
              </a:rPr>
              <a:t>아니라</a:t>
            </a:r>
            <a:br>
              <a:rPr lang="en-US" sz="1200" b="1" dirty="0">
                <a:solidFill>
                  <a:srgbClr val="64748B"/>
                </a:solidFill>
                <a:latin typeface="Malgun Gothic"/>
              </a:rPr>
            </a:br>
            <a:r>
              <a:rPr sz="1200" b="1" dirty="0" err="1">
                <a:solidFill>
                  <a:srgbClr val="64748B"/>
                </a:solidFill>
                <a:latin typeface="Malgun Gothic"/>
              </a:rPr>
              <a:t>데이터에서</a:t>
            </a:r>
            <a:r>
              <a:rPr sz="1200" b="1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Malgun Gothic"/>
              </a:rPr>
              <a:t>관찰된</a:t>
            </a:r>
            <a:r>
              <a:rPr sz="1200" b="1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Malgun Gothic"/>
              </a:rPr>
              <a:t>관계의</a:t>
            </a:r>
            <a:r>
              <a:rPr sz="1200" b="1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Malgun Gothic"/>
              </a:rPr>
              <a:t>차이를</a:t>
            </a:r>
            <a:r>
              <a:rPr sz="1200" b="1" dirty="0">
                <a:solidFill>
                  <a:srgbClr val="64748B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Malgun Gothic"/>
              </a:rPr>
              <a:t>의미</a:t>
            </a:r>
            <a:endParaRPr sz="1200" b="1" dirty="0">
              <a:solidFill>
                <a:srgbClr val="64748B"/>
              </a:solidFill>
              <a:latin typeface="Malgun Gothic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63540" y="1516380"/>
            <a:ext cx="6179515" cy="508254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7D3F1F4-08C1-4152-B72D-073AF6535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8277" y="1588770"/>
            <a:ext cx="4130041" cy="245097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F7FC9E07-CDE5-460B-8C20-206F8F9422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277" y="4089561"/>
            <a:ext cx="4130041" cy="245097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algun Gothic"/>
              </a:rPr>
              <a:t>결론 · 기대효과 · 한계 및 향후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4A3B8"/>
                </a:solidFill>
                <a:latin typeface="Malgun Gothic"/>
              </a:rPr>
              <a:t>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94415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820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dirty="0" err="1">
                <a:solidFill>
                  <a:srgbClr val="15803D"/>
                </a:solidFill>
                <a:latin typeface="Malgun Gothic"/>
              </a:rPr>
              <a:t>최종</a:t>
            </a:r>
            <a:r>
              <a:rPr sz="1600" b="1" dirty="0">
                <a:solidFill>
                  <a:srgbClr val="15803D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15803D"/>
                </a:solidFill>
                <a:latin typeface="Malgun Gothic"/>
              </a:rPr>
              <a:t>결론</a:t>
            </a:r>
            <a:endParaRPr sz="1600" b="1" dirty="0">
              <a:solidFill>
                <a:srgbClr val="15803D"/>
              </a:solidFill>
              <a:latin typeface="Malgun Gothic"/>
            </a:endParaRPr>
          </a:p>
          <a:p>
            <a:r>
              <a:rPr sz="1400" b="1" dirty="0" err="1">
                <a:solidFill>
                  <a:srgbClr val="FFFFFF"/>
                </a:solidFill>
                <a:latin typeface="Malgun Gothic"/>
              </a:rPr>
              <a:t>따릉이는</a:t>
            </a:r>
            <a:r>
              <a:rPr sz="1400" b="1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Malgun Gothic"/>
              </a:rPr>
              <a:t>시간대</a:t>
            </a:r>
            <a:r>
              <a:rPr sz="1400" b="1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Malgun Gothic"/>
              </a:rPr>
              <a:t>효과가</a:t>
            </a:r>
            <a:r>
              <a:rPr sz="1400" b="1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Malgun Gothic"/>
              </a:rPr>
              <a:t>강한</a:t>
            </a:r>
            <a:r>
              <a:rPr sz="1400" b="1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Malgun Gothic"/>
              </a:rPr>
              <a:t>가운데</a:t>
            </a:r>
            <a:r>
              <a:rPr sz="1400" b="1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Malgun Gothic"/>
              </a:rPr>
              <a:t>기온과도</a:t>
            </a:r>
            <a:r>
              <a:rPr sz="1400" b="1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Malgun Gothic"/>
              </a:rPr>
              <a:t>비교적</a:t>
            </a:r>
            <a:r>
              <a:rPr sz="1400" b="1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Malgun Gothic"/>
              </a:rPr>
              <a:t>일관된</a:t>
            </a:r>
            <a:r>
              <a:rPr sz="1400" b="1" dirty="0">
                <a:solidFill>
                  <a:srgbClr val="FFFFFF"/>
                </a:solidFill>
                <a:latin typeface="Malgun Gothic"/>
              </a:rPr>
              <a:t> 양(+)의 </a:t>
            </a:r>
            <a:r>
              <a:rPr sz="1400" b="1" dirty="0" err="1">
                <a:solidFill>
                  <a:srgbClr val="FFFFFF"/>
                </a:solidFill>
                <a:latin typeface="Malgun Gothic"/>
              </a:rPr>
              <a:t>관계가</a:t>
            </a:r>
            <a:r>
              <a:rPr sz="1400" b="1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Malgun Gothic"/>
              </a:rPr>
              <a:t>나타났고</a:t>
            </a:r>
            <a:r>
              <a:rPr sz="1400" b="1" dirty="0">
                <a:solidFill>
                  <a:srgbClr val="FFFFFF"/>
                </a:solidFill>
                <a:latin typeface="Malgun Gothic"/>
              </a:rPr>
              <a:t>, </a:t>
            </a:r>
            <a:br>
              <a:rPr lang="en-US" altLang="en-US" sz="1400" b="1" dirty="0">
                <a:solidFill>
                  <a:srgbClr val="FFFFFF"/>
                </a:solidFill>
                <a:latin typeface="Malgun Gothic"/>
              </a:rPr>
            </a:br>
            <a:r>
              <a:rPr sz="1400" b="1" dirty="0" err="1">
                <a:solidFill>
                  <a:srgbClr val="FFFFFF"/>
                </a:solidFill>
                <a:latin typeface="Malgun Gothic"/>
              </a:rPr>
              <a:t>지하철은</a:t>
            </a:r>
            <a:r>
              <a:rPr sz="1400" b="1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Malgun Gothic"/>
              </a:rPr>
              <a:t>기온보다</a:t>
            </a:r>
            <a:r>
              <a:rPr sz="1400" b="1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Malgun Gothic"/>
              </a:rPr>
              <a:t>시간대에</a:t>
            </a:r>
            <a:r>
              <a:rPr sz="1400" b="1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Malgun Gothic"/>
              </a:rPr>
              <a:t>따른</a:t>
            </a:r>
            <a:r>
              <a:rPr sz="1400" b="1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Malgun Gothic"/>
              </a:rPr>
              <a:t>이용</a:t>
            </a:r>
            <a:r>
              <a:rPr sz="1400" b="1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Malgun Gothic"/>
              </a:rPr>
              <a:t>패턴의</a:t>
            </a:r>
            <a:r>
              <a:rPr sz="1400" b="1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Malgun Gothic"/>
              </a:rPr>
              <a:t>방향과</a:t>
            </a:r>
            <a:r>
              <a:rPr sz="1400" b="1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Malgun Gothic"/>
              </a:rPr>
              <a:t>강도</a:t>
            </a:r>
            <a:r>
              <a:rPr sz="1400" b="1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Malgun Gothic"/>
              </a:rPr>
              <a:t>변화가</a:t>
            </a:r>
            <a:r>
              <a:rPr sz="1400" b="1" dirty="0">
                <a:solidFill>
                  <a:srgbClr val="FFFFFF"/>
                </a:solidFill>
                <a:latin typeface="Malgun Gothic"/>
              </a:rPr>
              <a:t> 더 </a:t>
            </a:r>
            <a:r>
              <a:rPr sz="1400" b="1" dirty="0" err="1">
                <a:solidFill>
                  <a:srgbClr val="FFFFFF"/>
                </a:solidFill>
                <a:latin typeface="Malgun Gothic"/>
              </a:rPr>
              <a:t>크게</a:t>
            </a:r>
            <a:r>
              <a:rPr sz="1400" b="1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Malgun Gothic"/>
              </a:rPr>
              <a:t>나타났습니다</a:t>
            </a:r>
            <a:r>
              <a:rPr sz="1400" b="1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5440680" cy="3108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74920" cy="2780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dirty="0" err="1">
                <a:solidFill>
                  <a:srgbClr val="1E40AF"/>
                </a:solidFill>
                <a:latin typeface="Malgun Gothic"/>
              </a:rPr>
              <a:t>기대효과</a:t>
            </a:r>
            <a:r>
              <a:rPr sz="1600" b="1" dirty="0">
                <a:solidFill>
                  <a:srgbClr val="1E40AF"/>
                </a:solidFill>
                <a:latin typeface="Malgun Gothic"/>
              </a:rPr>
              <a:t> / </a:t>
            </a:r>
            <a:r>
              <a:rPr sz="1600" b="1" dirty="0" err="1">
                <a:solidFill>
                  <a:srgbClr val="1E40AF"/>
                </a:solidFill>
                <a:latin typeface="Malgun Gothic"/>
              </a:rPr>
              <a:t>활용방향</a:t>
            </a:r>
            <a:endParaRPr sz="1600" b="1" dirty="0">
              <a:solidFill>
                <a:srgbClr val="1E40AF"/>
              </a:solidFill>
              <a:latin typeface="Malgun Gothic"/>
            </a:endParaRPr>
          </a:p>
          <a:p>
            <a:pPr>
              <a:spcAft>
                <a:spcPts val="400"/>
              </a:spcAft>
            </a:pPr>
            <a:r>
              <a:rPr sz="1200" b="1" dirty="0">
                <a:solidFill>
                  <a:srgbClr val="E2E8F0"/>
                </a:solidFill>
                <a:latin typeface="Malgun Gothic"/>
              </a:rPr>
              <a:t>•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학문적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의의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: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기온과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서울시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이동수단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이용량의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관계를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br>
              <a:rPr lang="en-US" sz="1200" b="1" dirty="0">
                <a:solidFill>
                  <a:srgbClr val="E2E8F0"/>
                </a:solidFill>
                <a:latin typeface="Malgun Gothic"/>
              </a:rPr>
            </a:br>
            <a:r>
              <a:rPr lang="en-US" sz="1200" b="1" dirty="0">
                <a:solidFill>
                  <a:srgbClr val="E2E8F0"/>
                </a:solidFill>
                <a:latin typeface="Malgun Gothic"/>
              </a:rPr>
              <a:t>		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데이터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기반으로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확인하는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기초자료</a:t>
            </a:r>
            <a:endParaRPr lang="en-US" sz="1200" b="1" dirty="0">
              <a:solidFill>
                <a:srgbClr val="E2E8F0"/>
              </a:solidFill>
              <a:latin typeface="Malgun Gothic"/>
            </a:endParaRPr>
          </a:p>
          <a:p>
            <a:pPr>
              <a:spcAft>
                <a:spcPts val="400"/>
              </a:spcAft>
            </a:pPr>
            <a:endParaRPr sz="1200" b="1" dirty="0">
              <a:solidFill>
                <a:srgbClr val="E2E8F0"/>
              </a:solidFill>
              <a:latin typeface="Malgun Gothic"/>
            </a:endParaRPr>
          </a:p>
          <a:p>
            <a:pPr>
              <a:spcAft>
                <a:spcPts val="400"/>
              </a:spcAft>
            </a:pPr>
            <a:r>
              <a:rPr sz="1200" b="1" dirty="0">
                <a:solidFill>
                  <a:srgbClr val="E2E8F0"/>
                </a:solidFill>
                <a:latin typeface="Malgun Gothic"/>
              </a:rPr>
              <a:t>•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산업적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가치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: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기온에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따른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따릉이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이용수요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변화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파악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br>
              <a:rPr lang="en-US" sz="1200" b="1" dirty="0">
                <a:solidFill>
                  <a:srgbClr val="E2E8F0"/>
                </a:solidFill>
                <a:latin typeface="Malgun Gothic"/>
              </a:rPr>
            </a:br>
            <a:r>
              <a:rPr lang="en-US" sz="1200" b="1" dirty="0">
                <a:solidFill>
                  <a:srgbClr val="E2E8F0"/>
                </a:solidFill>
                <a:latin typeface="Malgun Gothic"/>
              </a:rPr>
              <a:t>		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→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운영·수요관리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참고자료</a:t>
            </a:r>
            <a:endParaRPr lang="en-US" sz="1200" b="1" dirty="0">
              <a:solidFill>
                <a:srgbClr val="E2E8F0"/>
              </a:solidFill>
              <a:latin typeface="Malgun Gothic"/>
            </a:endParaRPr>
          </a:p>
          <a:p>
            <a:pPr>
              <a:spcAft>
                <a:spcPts val="400"/>
              </a:spcAft>
            </a:pPr>
            <a:endParaRPr sz="1200" b="1" dirty="0">
              <a:solidFill>
                <a:srgbClr val="E2E8F0"/>
              </a:solidFill>
              <a:latin typeface="Malgun Gothic"/>
            </a:endParaRPr>
          </a:p>
          <a:p>
            <a:pPr>
              <a:spcAft>
                <a:spcPts val="400"/>
              </a:spcAft>
            </a:pPr>
            <a:r>
              <a:rPr sz="1200" b="1" dirty="0">
                <a:solidFill>
                  <a:srgbClr val="E2E8F0"/>
                </a:solidFill>
                <a:latin typeface="Malgun Gothic"/>
              </a:rPr>
              <a:t>•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정책적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활용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: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기상환경을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고려한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교통수요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관리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및 </a:t>
            </a:r>
            <a:br>
              <a:rPr lang="en-US" sz="1200" b="1" dirty="0">
                <a:solidFill>
                  <a:srgbClr val="E2E8F0"/>
                </a:solidFill>
                <a:latin typeface="Malgun Gothic"/>
              </a:rPr>
            </a:br>
            <a:r>
              <a:rPr lang="en-US" sz="1200" b="1" dirty="0">
                <a:solidFill>
                  <a:srgbClr val="E2E8F0"/>
                </a:solidFill>
                <a:latin typeface="Malgun Gothic"/>
              </a:rPr>
              <a:t>		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공공자전거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운영정책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참고자료</a:t>
            </a:r>
            <a:endParaRPr lang="en-US" sz="1200" b="1" dirty="0">
              <a:solidFill>
                <a:srgbClr val="E2E8F0"/>
              </a:solidFill>
              <a:latin typeface="Malgun Gothic"/>
            </a:endParaRPr>
          </a:p>
          <a:p>
            <a:pPr>
              <a:spcAft>
                <a:spcPts val="400"/>
              </a:spcAft>
            </a:pPr>
            <a:endParaRPr sz="1200" b="1" dirty="0">
              <a:solidFill>
                <a:srgbClr val="E2E8F0"/>
              </a:solidFill>
              <a:latin typeface="Malgun Gothic"/>
            </a:endParaRPr>
          </a:p>
          <a:p>
            <a:pPr>
              <a:spcAft>
                <a:spcPts val="400"/>
              </a:spcAft>
            </a:pPr>
            <a:r>
              <a:rPr sz="1200" b="1" dirty="0">
                <a:solidFill>
                  <a:srgbClr val="E2E8F0"/>
                </a:solidFill>
                <a:latin typeface="Malgun Gothic"/>
              </a:rPr>
              <a:t>•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사회적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파급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: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기상환경을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고려한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효율적인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br>
              <a:rPr lang="en-US" sz="1200" b="1" dirty="0">
                <a:solidFill>
                  <a:srgbClr val="E2E8F0"/>
                </a:solidFill>
                <a:latin typeface="Malgun Gothic"/>
              </a:rPr>
            </a:br>
            <a:r>
              <a:rPr lang="en-US" sz="1200" b="1" dirty="0">
                <a:solidFill>
                  <a:srgbClr val="E2E8F0"/>
                </a:solidFill>
                <a:latin typeface="Malgun Gothic"/>
              </a:rPr>
              <a:t>		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도시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교통·공공교통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서비스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운영에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기여</a:t>
            </a:r>
            <a:endParaRPr sz="1200" b="1" dirty="0">
              <a:solidFill>
                <a:srgbClr val="E2E8F0"/>
              </a:solidFill>
              <a:latin typeface="Malgun Gothic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202375" y="2651760"/>
            <a:ext cx="5440680" cy="3108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10" name="TextBox 9"/>
          <p:cNvSpPr txBox="1"/>
          <p:nvPr/>
        </p:nvSpPr>
        <p:spPr>
          <a:xfrm>
            <a:off x="6385255" y="2743200"/>
            <a:ext cx="5074920" cy="160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dirty="0" err="1">
                <a:solidFill>
                  <a:srgbClr val="F59E0B"/>
                </a:solidFill>
                <a:latin typeface="Malgun Gothic"/>
              </a:rPr>
              <a:t>한계</a:t>
            </a:r>
            <a:r>
              <a:rPr sz="1600" b="1" dirty="0">
                <a:solidFill>
                  <a:srgbClr val="F59E0B"/>
                </a:solidFill>
                <a:latin typeface="Malgun Gothic"/>
              </a:rPr>
              <a:t> / </a:t>
            </a:r>
            <a:r>
              <a:rPr sz="1600" b="1" dirty="0" err="1">
                <a:solidFill>
                  <a:srgbClr val="F59E0B"/>
                </a:solidFill>
                <a:latin typeface="Malgun Gothic"/>
              </a:rPr>
              <a:t>향후</a:t>
            </a:r>
            <a:r>
              <a:rPr sz="1600" b="1" dirty="0">
                <a:solidFill>
                  <a:srgbClr val="F59E0B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F59E0B"/>
                </a:solidFill>
                <a:latin typeface="Malgun Gothic"/>
              </a:rPr>
              <a:t>확장</a:t>
            </a:r>
            <a:endParaRPr sz="1600" b="1" dirty="0">
              <a:solidFill>
                <a:srgbClr val="F59E0B"/>
              </a:solidFill>
              <a:latin typeface="Malgun Gothic"/>
            </a:endParaRPr>
          </a:p>
          <a:p>
            <a:pPr>
              <a:spcAft>
                <a:spcPts val="1400"/>
              </a:spcAft>
            </a:pPr>
            <a:r>
              <a:rPr sz="1200" b="1" dirty="0">
                <a:solidFill>
                  <a:srgbClr val="E2E8F0"/>
                </a:solidFill>
                <a:latin typeface="Malgun Gothic"/>
              </a:rPr>
              <a:t>2025년 3·6·9·12월,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평일·비공휴일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중심의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탐색적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분석입니다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. </a:t>
            </a:r>
            <a:br>
              <a:rPr lang="en-US" sz="1200" b="1" dirty="0">
                <a:solidFill>
                  <a:srgbClr val="E2E8F0"/>
                </a:solidFill>
                <a:latin typeface="Malgun Gothic"/>
              </a:rPr>
            </a:br>
            <a:r>
              <a:rPr sz="1200" b="1" dirty="0" err="1">
                <a:solidFill>
                  <a:srgbClr val="E2E8F0"/>
                </a:solidFill>
                <a:latin typeface="Malgun Gothic"/>
              </a:rPr>
              <a:t>향후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연중·다년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데이터와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강수·풍속·미세먼지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등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추가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변수를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포함하고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회귀분석으로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기온의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독립적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영향을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검증한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뒤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수요예측으로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확장할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 수 </a:t>
            </a:r>
            <a:r>
              <a:rPr sz="1200" b="1" dirty="0" err="1">
                <a:solidFill>
                  <a:srgbClr val="E2E8F0"/>
                </a:solidFill>
                <a:latin typeface="Malgun Gothic"/>
              </a:rPr>
              <a:t>있습니다</a:t>
            </a:r>
            <a:r>
              <a:rPr sz="1200" b="1" dirty="0">
                <a:solidFill>
                  <a:srgbClr val="E2E8F0"/>
                </a:solidFill>
                <a:latin typeface="Malgun Gothic"/>
              </a:rPr>
              <a:t>.</a:t>
            </a:r>
          </a:p>
          <a:p>
            <a:pPr algn="ctr"/>
            <a:r>
              <a:rPr sz="1600" b="1" dirty="0" err="1">
                <a:solidFill>
                  <a:srgbClr val="F59E0B"/>
                </a:solidFill>
                <a:latin typeface="Malgun Gothic"/>
              </a:rPr>
              <a:t>상관관계</a:t>
            </a:r>
            <a:r>
              <a:rPr sz="1600" b="1" dirty="0">
                <a:solidFill>
                  <a:srgbClr val="F59E0B"/>
                </a:solidFill>
                <a:latin typeface="Malgun Gothic"/>
              </a:rPr>
              <a:t> ≠ </a:t>
            </a:r>
            <a:r>
              <a:rPr sz="1600" b="1" dirty="0" err="1">
                <a:solidFill>
                  <a:srgbClr val="F59E0B"/>
                </a:solidFill>
                <a:latin typeface="Malgun Gothic"/>
              </a:rPr>
              <a:t>인과관계</a:t>
            </a:r>
            <a:endParaRPr sz="1600" b="1" dirty="0">
              <a:solidFill>
                <a:srgbClr val="F59E0B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algun Gothic"/>
              </a:rPr>
              <a:t>참고자료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4A3B8"/>
                </a:solidFill>
                <a:latin typeface="Malgun Gothic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803D"/>
                </a:solidFill>
                <a:latin typeface="Malgun Gothic"/>
              </a:rPr>
              <a:t>활용 데이터 출처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356616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3566160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59E0B"/>
                </a:solidFill>
                <a:latin typeface="Malgun Gothic"/>
              </a:rPr>
              <a:t>기온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algun Gothic"/>
              </a:rPr>
              <a:t>기관 및 성격</a:t>
            </a:r>
          </a:p>
          <a:p>
            <a:pPr>
              <a:spcAft>
                <a:spcPts val="1400"/>
              </a:spcAft>
            </a:pPr>
            <a:r>
              <a:rPr sz="1100">
                <a:solidFill>
                  <a:srgbClr val="E2E8F0"/>
                </a:solidFill>
                <a:latin typeface="Malgun Gothic"/>
              </a:rPr>
              <a:t>기상청 ASOS · 서울 108번 지점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algun Gothic"/>
              </a:rPr>
              <a:t>데이터 수집 링크</a:t>
            </a:r>
          </a:p>
          <a:p>
            <a:r>
              <a:rPr sz="900" u="sng">
                <a:solidFill>
                  <a:srgbClr val="94A3B8"/>
                </a:solidFill>
                <a:latin typeface="Malgun Gothic"/>
              </a:rPr>
              <a:t>https://data.seoul.go.kr/dataList/OA-15182/F/1/datasetView.do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828800"/>
            <a:ext cx="356616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97680" y="1828800"/>
            <a:ext cx="3566160" cy="10972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60" y="219456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15803D"/>
                </a:solidFill>
                <a:latin typeface="Malgun Gothic"/>
              </a:rPr>
              <a:t>따릉이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algun Gothic"/>
              </a:rPr>
              <a:t>기관 및 성격</a:t>
            </a:r>
          </a:p>
          <a:p>
            <a:pPr>
              <a:spcAft>
                <a:spcPts val="1400"/>
              </a:spcAft>
            </a:pPr>
            <a:r>
              <a:rPr sz="1100">
                <a:solidFill>
                  <a:srgbClr val="E2E8F0"/>
                </a:solidFill>
                <a:latin typeface="Malgun Gothic"/>
              </a:rPr>
              <a:t>서울시 공공자전거 대여이력 정보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algun Gothic"/>
              </a:rPr>
              <a:t>데이터 수집 링크</a:t>
            </a:r>
          </a:p>
          <a:p>
            <a:r>
              <a:rPr sz="900" u="sng">
                <a:solidFill>
                  <a:srgbClr val="94A3B8"/>
                </a:solidFill>
                <a:latin typeface="Malgun Gothic"/>
              </a:rPr>
              <a:t>https://data.seoul.go.kr/dataList/OA-15182/F/1/datasetView.do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828800"/>
            <a:ext cx="356616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46720" y="1828800"/>
            <a:ext cx="3566160" cy="10972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0" y="2194560"/>
            <a:ext cx="32004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 dirty="0" err="1">
                <a:solidFill>
                  <a:srgbClr val="1E40AF"/>
                </a:solidFill>
                <a:latin typeface="Malgun Gothic"/>
              </a:rPr>
              <a:t>지하철</a:t>
            </a:r>
            <a:endParaRPr sz="1800" b="1" dirty="0">
              <a:solidFill>
                <a:srgbClr val="1E40AF"/>
              </a:solidFill>
              <a:latin typeface="Malgun Gothic"/>
            </a:endParaRPr>
          </a:p>
          <a:p>
            <a:pPr>
              <a:spcAft>
                <a:spcPts val="400"/>
              </a:spcAft>
            </a:pPr>
            <a:r>
              <a:rPr sz="1200" b="1" dirty="0" err="1">
                <a:solidFill>
                  <a:srgbClr val="FFFFFF"/>
                </a:solidFill>
                <a:latin typeface="Malgun Gothic"/>
              </a:rPr>
              <a:t>기관</a:t>
            </a:r>
            <a:r>
              <a:rPr sz="1200" b="1" dirty="0">
                <a:solidFill>
                  <a:srgbClr val="FFFFFF"/>
                </a:solidFill>
                <a:latin typeface="Malgun Gothic"/>
              </a:rPr>
              <a:t> 및 </a:t>
            </a:r>
            <a:r>
              <a:rPr sz="1200" b="1" dirty="0" err="1">
                <a:solidFill>
                  <a:srgbClr val="FFFFFF"/>
                </a:solidFill>
                <a:latin typeface="Malgun Gothic"/>
              </a:rPr>
              <a:t>성격</a:t>
            </a:r>
            <a:endParaRPr sz="1200" b="1" dirty="0">
              <a:solidFill>
                <a:srgbClr val="FFFFFF"/>
              </a:solidFill>
              <a:latin typeface="Malgun Gothic"/>
            </a:endParaRPr>
          </a:p>
          <a:p>
            <a:pPr>
              <a:spcAft>
                <a:spcPts val="1400"/>
              </a:spcAft>
            </a:pPr>
            <a:r>
              <a:rPr sz="1100" dirty="0" err="1">
                <a:solidFill>
                  <a:srgbClr val="E2E8F0"/>
                </a:solidFill>
                <a:latin typeface="Malgun Gothic"/>
              </a:rPr>
              <a:t>서울교통공사</a:t>
            </a:r>
            <a:r>
              <a:rPr sz="1100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E2E8F0"/>
                </a:solidFill>
                <a:latin typeface="Malgun Gothic"/>
              </a:rPr>
              <a:t>역별</a:t>
            </a:r>
            <a:r>
              <a:rPr sz="1100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E2E8F0"/>
                </a:solidFill>
                <a:latin typeface="Malgun Gothic"/>
              </a:rPr>
              <a:t>일별</a:t>
            </a:r>
            <a:r>
              <a:rPr sz="1100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E2E8F0"/>
                </a:solidFill>
                <a:latin typeface="Malgun Gothic"/>
              </a:rPr>
              <a:t>시간대별</a:t>
            </a:r>
            <a:r>
              <a:rPr sz="1100" dirty="0">
                <a:solidFill>
                  <a:srgbClr val="E2E8F0"/>
                </a:solidFill>
                <a:latin typeface="Malgun Gothic"/>
              </a:rPr>
              <a:t> </a:t>
            </a:r>
            <a:br>
              <a:rPr lang="en-US" sz="1100" dirty="0">
                <a:solidFill>
                  <a:srgbClr val="E2E8F0"/>
                </a:solidFill>
                <a:latin typeface="Malgun Gothic"/>
              </a:rPr>
            </a:br>
            <a:r>
              <a:rPr sz="1100" dirty="0" err="1">
                <a:solidFill>
                  <a:srgbClr val="E2E8F0"/>
                </a:solidFill>
                <a:latin typeface="Malgun Gothic"/>
              </a:rPr>
              <a:t>승하차인원</a:t>
            </a:r>
            <a:r>
              <a:rPr sz="1100" dirty="0">
                <a:solidFill>
                  <a:srgbClr val="E2E8F0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E2E8F0"/>
                </a:solidFill>
                <a:latin typeface="Malgun Gothic"/>
              </a:rPr>
              <a:t>정보</a:t>
            </a:r>
            <a:endParaRPr sz="1100" dirty="0">
              <a:solidFill>
                <a:srgbClr val="E2E8F0"/>
              </a:solidFill>
              <a:latin typeface="Malgun Gothic"/>
            </a:endParaRPr>
          </a:p>
          <a:p>
            <a:pPr>
              <a:spcAft>
                <a:spcPts val="400"/>
              </a:spcAft>
            </a:pPr>
            <a:r>
              <a:rPr sz="1200" b="1" dirty="0" err="1">
                <a:solidFill>
                  <a:srgbClr val="FFFFFF"/>
                </a:solidFill>
                <a:latin typeface="Malgun Gothic"/>
              </a:rPr>
              <a:t>데이터</a:t>
            </a:r>
            <a:r>
              <a:rPr sz="1200" b="1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FFFFFF"/>
                </a:solidFill>
                <a:latin typeface="Malgun Gothic"/>
              </a:rPr>
              <a:t>수집</a:t>
            </a:r>
            <a:r>
              <a:rPr sz="1200" b="1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00" b="1" dirty="0" err="1">
                <a:solidFill>
                  <a:srgbClr val="FFFFFF"/>
                </a:solidFill>
                <a:latin typeface="Malgun Gothic"/>
              </a:rPr>
              <a:t>링크</a:t>
            </a:r>
            <a:endParaRPr sz="1200" b="1" dirty="0">
              <a:solidFill>
                <a:srgbClr val="FFFFFF"/>
              </a:solidFill>
              <a:latin typeface="Malgun Gothic"/>
            </a:endParaRPr>
          </a:p>
          <a:p>
            <a:r>
              <a:rPr sz="900" u="sng" dirty="0">
                <a:solidFill>
                  <a:srgbClr val="94A3B8"/>
                </a:solidFill>
                <a:latin typeface="Malgun Gothic"/>
              </a:rPr>
              <a:t>https://data.seoul.go.kr/dataList/OA-12921/F/1/datasetView.do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1274</Words>
  <Application>Microsoft Office PowerPoint</Application>
  <PresentationFormat>와이드스크린</PresentationFormat>
  <Paragraphs>209</Paragraphs>
  <Slides>17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2" baseType="lpstr">
      <vt:lpstr>맑은 고딕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>SBA</dc:creator>
  <cp:keywords/>
  <dc:description>generated using python-pptx</dc:description>
  <cp:lastModifiedBy>SBA</cp:lastModifiedBy>
  <cp:revision>15</cp:revision>
  <dcterms:created xsi:type="dcterms:W3CDTF">2013-01-27T09:14:16Z</dcterms:created>
  <dcterms:modified xsi:type="dcterms:W3CDTF">2026-08-13T13:54:40Z</dcterms:modified>
  <cp:category/>
</cp:coreProperties>
</file>