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133856"/>
            <a:ext cx="9966960" cy="11155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E2D44"/>
                </a:solidFill>
                <a:latin typeface="Noto Sans CJK KR"/>
              </a:rPr>
              <a:t>기온에 따른 서울시
따릉이 및 지하철 이용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542032"/>
            <a:ext cx="987552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30" b="0">
                <a:solidFill>
                  <a:srgbClr val="606A78"/>
                </a:solidFill>
                <a:latin typeface="Noto Sans CJK KR"/>
              </a:rPr>
              <a:t>기온이 오르면 서울 시민의 이동수단 이용은 어떻게 달라지는가?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3246120"/>
            <a:ext cx="1920240" cy="45720"/>
          </a:xfrm>
          <a:prstGeom prst="rect">
            <a:avLst/>
          </a:prstGeom>
          <a:solidFill>
            <a:srgbClr val="2B5E94"/>
          </a:solidFill>
          <a:ln>
            <a:solidFill>
              <a:srgbClr val="2B5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93008"/>
            <a:ext cx="99669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20" b="0">
                <a:solidFill>
                  <a:srgbClr val="606A78"/>
                </a:solidFill>
                <a:latin typeface="Noto Sans CJK KR"/>
              </a:rPr>
              <a:t>2025년 3·6·9·12월 | 평일·비공휴일 | 83일 × 18시간대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6007608"/>
            <a:ext cx="104241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19" b="0">
                <a:solidFill>
                  <a:srgbClr val="606A78"/>
                </a:solidFill>
                <a:latin typeface="Noto Sans CJK KR"/>
              </a:rPr>
              <a:t>Python · pandas · matplotlib · seaborn · Jupyter Notebook ·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4206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B5E94"/>
                </a:solidFill>
                <a:latin typeface="Noto Sans CJK KR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146304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80" b="1">
                <a:solidFill>
                  <a:srgbClr val="606A78"/>
                </a:solidFill>
                <a:latin typeface="Noto Sans CJK KR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18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D44"/>
                </a:solidFill>
                <a:latin typeface="Noto Sans CJK KR"/>
              </a:rPr>
              <a:t>발표 구성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44168"/>
            <a:ext cx="612648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362456"/>
            <a:ext cx="5029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40" b="1">
                <a:solidFill>
                  <a:srgbClr val="2B5E94"/>
                </a:solidFill>
                <a:latin typeface="Noto Sans CJK K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72" y="1325880"/>
            <a:ext cx="749807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50" b="1">
                <a:solidFill>
                  <a:srgbClr val="1E2D44"/>
                </a:solidFill>
                <a:latin typeface="Noto Sans CJK KR"/>
              </a:rPr>
              <a:t>분석 배경 및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48840"/>
            <a:ext cx="612648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167128"/>
            <a:ext cx="5029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40" b="1">
                <a:solidFill>
                  <a:srgbClr val="2B5E94"/>
                </a:solidFill>
                <a:latin typeface="Noto Sans CJK K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2130552"/>
            <a:ext cx="749807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50" b="1">
                <a:solidFill>
                  <a:srgbClr val="1E2D44"/>
                </a:solidFill>
                <a:latin typeface="Noto Sans CJK KR"/>
              </a:rPr>
              <a:t>활용데이터 및 전처리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953512"/>
            <a:ext cx="612648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971800"/>
            <a:ext cx="5029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40" b="1">
                <a:solidFill>
                  <a:srgbClr val="2B5E94"/>
                </a:solidFill>
                <a:latin typeface="Noto Sans CJK K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2935224"/>
            <a:ext cx="749807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50" b="1">
                <a:solidFill>
                  <a:srgbClr val="1E2D44"/>
                </a:solidFill>
                <a:latin typeface="Noto Sans CJK KR"/>
              </a:rPr>
              <a:t>기본 이용 패턴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758184"/>
            <a:ext cx="612648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776472"/>
            <a:ext cx="5029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40" b="1">
                <a:solidFill>
                  <a:srgbClr val="2B5E94"/>
                </a:solidFill>
                <a:latin typeface="Noto Sans CJK KR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3739896"/>
            <a:ext cx="749807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50" b="1">
                <a:solidFill>
                  <a:srgbClr val="1E2D44"/>
                </a:solidFill>
                <a:latin typeface="Noto Sans CJK KR"/>
              </a:rPr>
              <a:t>기온-이용량 관계 분석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562856"/>
            <a:ext cx="612648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4581144"/>
            <a:ext cx="5029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40" b="1">
                <a:solidFill>
                  <a:srgbClr val="2B5E94"/>
                </a:solidFill>
                <a:latin typeface="Noto Sans CJK KR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4544568"/>
            <a:ext cx="749807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50" b="1">
                <a:solidFill>
                  <a:srgbClr val="1E2D44"/>
                </a:solidFill>
                <a:latin typeface="Noto Sans CJK KR"/>
              </a:rPr>
              <a:t>결론 · 기대효과 ·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623560"/>
            <a:ext cx="1033272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20" b="0">
                <a:solidFill>
                  <a:srgbClr val="606A78"/>
                </a:solidFill>
                <a:latin typeface="Noto Sans CJK KR"/>
              </a:rPr>
              <a:t>문제 제기 → 데이터 → 전처리 → 기본 패턴 → 관계 분석 →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4206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B5E94"/>
                </a:solidFill>
                <a:latin typeface="Noto Sans CJK KR"/>
              </a:rPr>
              <a:t>분석 배경 및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146304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80" b="1">
                <a:solidFill>
                  <a:srgbClr val="606A78"/>
                </a:solidFill>
                <a:latin typeface="Noto Sans CJK KR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18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D44"/>
                </a:solidFill>
                <a:latin typeface="Noto Sans CJK KR"/>
              </a:rPr>
              <a:t>왜 기온과 이동수단을 비교했는가?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53312"/>
            <a:ext cx="5257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53312"/>
            <a:ext cx="5257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09344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20" b="1">
                <a:solidFill>
                  <a:srgbClr val="2B5E94"/>
                </a:solidFill>
                <a:latin typeface="Noto Sans CJK KR"/>
              </a:rPr>
              <a:t>관심 배경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4526280" cy="9601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920" b="1">
                <a:solidFill>
                  <a:srgbClr val="1E2D44"/>
                </a:solidFill>
                <a:latin typeface="Noto Sans CJK KR"/>
              </a:rPr>
              <a:t>최근 여름철 고온 등
기상환경 변화가 시민 이동에 미치는 영향에 관심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10128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20" b="1">
                <a:solidFill>
                  <a:srgbClr val="2B5E94"/>
                </a:solidFill>
                <a:latin typeface="Noto Sans CJK KR"/>
              </a:rPr>
              <a:t>분석 관점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03320"/>
            <a:ext cx="4526280" cy="9601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20" b="0">
                <a:solidFill>
                  <a:srgbClr val="232930"/>
                </a:solidFill>
                <a:latin typeface="Noto Sans CJK KR"/>
              </a:rPr>
              <a:t>따릉이 = 외부 환경에 직접 노출
지하철 = 상대적으로 실내 이동수단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09344"/>
            <a:ext cx="13258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20" b="1">
                <a:solidFill>
                  <a:srgbClr val="2B5E94"/>
                </a:solidFill>
                <a:latin typeface="Noto Sans CJK KR"/>
              </a:rPr>
              <a:t>핵심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526280" cy="10972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1E2D44"/>
                </a:solidFill>
                <a:latin typeface="Noto Sans CJK KR"/>
              </a:rPr>
              <a:t>기온 변화에 따라
따릉이와 지하철의 이용 패턴은 어떻게 달라지는가?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703320"/>
            <a:ext cx="45262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3A7A47"/>
                </a:solidFill>
                <a:latin typeface="Noto Sans CJK KR"/>
              </a:rPr>
              <a:t>두 교통수단의 ‘기온 반응 차이’를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4206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B5E94"/>
                </a:solidFill>
                <a:latin typeface="Noto Sans CJK KR"/>
              </a:rPr>
              <a:t>분석 배경 및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146304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80" b="1">
                <a:solidFill>
                  <a:srgbClr val="606A78"/>
                </a:solidFill>
                <a:latin typeface="Noto Sans CJK KR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18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D44"/>
                </a:solidFill>
                <a:latin typeface="Noto Sans CJK KR"/>
              </a:rPr>
              <a:t>분석 목표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298448"/>
            <a:ext cx="658368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16736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B5E94"/>
                </a:solidFill>
                <a:latin typeface="Noto Sans CJK K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1289304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30" b="1">
                <a:solidFill>
                  <a:srgbClr val="1E2D44"/>
                </a:solidFill>
                <a:latin typeface="Noto Sans CJK KR"/>
              </a:rPr>
              <a:t>기본 이용 패턴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289304"/>
            <a:ext cx="68122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70" b="0">
                <a:solidFill>
                  <a:srgbClr val="232930"/>
                </a:solidFill>
                <a:latin typeface="Noto Sans CJK KR"/>
              </a:rPr>
              <a:t>월별·시간대별 이용량 구조를 먼저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286000"/>
            <a:ext cx="658368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0428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B5E94"/>
                </a:solidFill>
                <a:latin typeface="Noto Sans CJK K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276856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30" b="1">
                <a:solidFill>
                  <a:srgbClr val="1E2D44"/>
                </a:solidFill>
                <a:latin typeface="Noto Sans CJK KR"/>
              </a:rPr>
              <a:t>기온과 이용량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276856"/>
            <a:ext cx="68122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70" b="0">
                <a:solidFill>
                  <a:srgbClr val="232930"/>
                </a:solidFill>
                <a:latin typeface="Noto Sans CJK KR"/>
              </a:rPr>
              <a:t>기온 구간별 이용량이 어떻게 달라지는지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273552"/>
            <a:ext cx="658368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291840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B5E94"/>
                </a:solidFill>
                <a:latin typeface="Noto Sans CJK K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3264408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30" b="1">
                <a:solidFill>
                  <a:srgbClr val="1E2D44"/>
                </a:solidFill>
                <a:latin typeface="Noto Sans CJK KR"/>
              </a:rPr>
              <a:t>시간대별 관계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264408"/>
            <a:ext cx="68122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70" b="0">
                <a:solidFill>
                  <a:srgbClr val="232930"/>
                </a:solidFill>
                <a:latin typeface="Noto Sans CJK KR"/>
              </a:rPr>
              <a:t>같은 시간대 안에서 기온과 이용량의 관계를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261104"/>
            <a:ext cx="658368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279392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B5E94"/>
                </a:solidFill>
                <a:latin typeface="Noto Sans CJK K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4251960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30" b="1">
                <a:solidFill>
                  <a:srgbClr val="1E2D44"/>
                </a:solidFill>
                <a:latin typeface="Noto Sans CJK KR"/>
              </a:rPr>
              <a:t>교통수단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251960"/>
            <a:ext cx="68122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70" b="0">
                <a:solidFill>
                  <a:srgbClr val="232930"/>
                </a:solidFill>
                <a:latin typeface="Noto Sans CJK KR"/>
              </a:rPr>
              <a:t>따릉이와 지하철의 기온 반응 차이를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4206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B5E94"/>
                </a:solidFill>
                <a:latin typeface="Noto Sans CJK KR"/>
              </a:rPr>
              <a:t>활용데이터 및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146304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80" b="1">
                <a:solidFill>
                  <a:srgbClr val="606A78"/>
                </a:solidFill>
                <a:latin typeface="Noto Sans CJK KR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18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D44"/>
                </a:solidFill>
                <a:latin typeface="Noto Sans CJK KR"/>
              </a:rPr>
              <a:t>분석 도구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53312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444752"/>
            <a:ext cx="181051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1">
                <a:solidFill>
                  <a:srgbClr val="2B5E94"/>
                </a:solidFill>
                <a:latin typeface="Noto Sans CJK KR"/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5768" y="1426464"/>
            <a:ext cx="290779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0">
                <a:solidFill>
                  <a:srgbClr val="232930"/>
                </a:solidFill>
                <a:latin typeface="Noto Sans CJK KR"/>
              </a:rPr>
              <a:t>전처리·분석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73368" y="1353312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444752"/>
            <a:ext cx="181051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1">
                <a:solidFill>
                  <a:srgbClr val="2B5E94"/>
                </a:solidFill>
                <a:latin typeface="Noto Sans CJK KR"/>
              </a:rPr>
              <a:t>VS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1896" y="1426464"/>
            <a:ext cx="290779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0">
                <a:solidFill>
                  <a:srgbClr val="232930"/>
                </a:solidFill>
                <a:latin typeface="Noto Sans CJK KR"/>
              </a:rPr>
              <a:t>프로젝트 개발환경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57984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49424"/>
            <a:ext cx="181051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1">
                <a:solidFill>
                  <a:srgbClr val="2B5E94"/>
                </a:solidFill>
                <a:latin typeface="Noto Sans CJK KR"/>
              </a:rPr>
              <a:t>Jupyter 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2231136"/>
            <a:ext cx="290779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0">
                <a:solidFill>
                  <a:srgbClr val="232930"/>
                </a:solidFill>
                <a:latin typeface="Noto Sans CJK KR"/>
              </a:rPr>
              <a:t>EDA 및 결과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3368" y="2157984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2249424"/>
            <a:ext cx="181051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1">
                <a:solidFill>
                  <a:srgbClr val="2B5E94"/>
                </a:solidFill>
                <a:latin typeface="Noto Sans CJK KR"/>
              </a:rPr>
              <a:t>pandas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231136"/>
            <a:ext cx="290779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0">
                <a:solidFill>
                  <a:srgbClr val="232930"/>
                </a:solidFill>
                <a:latin typeface="Noto Sans CJK KR"/>
              </a:rPr>
              <a:t>CSV 처리·집계·merge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962656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054096"/>
            <a:ext cx="181051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1">
                <a:solidFill>
                  <a:srgbClr val="2B5E94"/>
                </a:solidFill>
                <a:latin typeface="Noto Sans CJK KR"/>
              </a:rPr>
              <a:t>NumPy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3035808"/>
            <a:ext cx="290779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0">
                <a:solidFill>
                  <a:srgbClr val="232930"/>
                </a:solidFill>
                <a:latin typeface="Noto Sans CJK KR"/>
              </a:rPr>
              <a:t>수치 연산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2962656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3054096"/>
            <a:ext cx="181051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1">
                <a:solidFill>
                  <a:srgbClr val="2B5E94"/>
                </a:solidFill>
                <a:latin typeface="Noto Sans CJK KR"/>
              </a:rPr>
              <a:t>matplotlib / seaborn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035808"/>
            <a:ext cx="290779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0">
                <a:solidFill>
                  <a:srgbClr val="232930"/>
                </a:solidFill>
                <a:latin typeface="Noto Sans CJK KR"/>
              </a:rPr>
              <a:t>시각화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767328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858768"/>
            <a:ext cx="181051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1">
                <a:solidFill>
                  <a:srgbClr val="2B5E94"/>
                </a:solidFill>
                <a:latin typeface="Noto Sans CJK KR"/>
              </a:rPr>
              <a:t>holidays.KR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768" y="3840480"/>
            <a:ext cx="290779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0">
                <a:solidFill>
                  <a:srgbClr val="232930"/>
                </a:solidFill>
                <a:latin typeface="Noto Sans CJK KR"/>
              </a:rPr>
              <a:t>공휴일·대체공휴일 판별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73368" y="3767328"/>
            <a:ext cx="5074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3858768"/>
            <a:ext cx="181051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1">
                <a:solidFill>
                  <a:srgbClr val="2B5E94"/>
                </a:solidFill>
                <a:latin typeface="Noto Sans CJK KR"/>
              </a:rPr>
              <a:t>Streamlit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3840480"/>
            <a:ext cx="290779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0">
                <a:solidFill>
                  <a:srgbClr val="232930"/>
                </a:solidFill>
                <a:latin typeface="Noto Sans CJK KR"/>
              </a:rPr>
              <a:t>최종 대시보드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892040"/>
            <a:ext cx="10625328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496519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1">
                <a:solidFill>
                  <a:srgbClr val="2B5E94"/>
                </a:solidFill>
                <a:latin typeface="Noto Sans CJK KR"/>
              </a:rPr>
              <a:t>특이사항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937759"/>
            <a:ext cx="929944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0">
                <a:solidFill>
                  <a:srgbClr val="232930"/>
                </a:solidFill>
                <a:latin typeface="Noto Sans CJK KR"/>
              </a:rPr>
              <a:t>한국 공휴일·대체공휴일은 holidays.KR(years=2025)로 판별했습니다.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4206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B5E94"/>
                </a:solidFill>
                <a:latin typeface="Noto Sans CJK KR"/>
              </a:rPr>
              <a:t>활용데이터 및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146304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80" b="1">
                <a:solidFill>
                  <a:srgbClr val="606A78"/>
                </a:solidFill>
                <a:latin typeface="Noto Sans CJK KR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18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D44"/>
                </a:solidFill>
                <a:latin typeface="Noto Sans CJK KR"/>
              </a:rPr>
              <a:t>활용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69264"/>
            <a:ext cx="10744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30" b="0">
                <a:solidFill>
                  <a:srgbClr val="606A78"/>
                </a:solidFill>
                <a:latin typeface="Noto Sans CJK KR"/>
              </a:rPr>
              <a:t>원본 구조와 분석에 사용한 핵심 특성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529584" cy="4279392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2B5E94"/>
                </a:solidFill>
                <a:latin typeface="Noto Sans CJK KR"/>
              </a:rPr>
              <a:t>기온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297180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1E2D44"/>
                </a:solidFill>
                <a:latin typeface="Noto Sans CJK KR"/>
              </a:rPr>
              <a:t>기상청 ASOS · 서울 108번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606A78"/>
                </a:solidFill>
                <a:latin typeface="Noto Sans CJK KR"/>
              </a:rPr>
              <a:t>2025년 시간별 관측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1">
                <a:solidFill>
                  <a:srgbClr val="3A7A47"/>
                </a:solidFill>
                <a:latin typeface="Noto Sans CJK KR"/>
              </a:rPr>
              <a:t>8,760행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290779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10" b="0">
                <a:solidFill>
                  <a:srgbClr val="232930"/>
                </a:solidFill>
                <a:latin typeface="Noto Sans CJK KR"/>
              </a:rPr>
              <a:t>서울 지점의 시간별 기온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1417320"/>
            <a:ext cx="3529584" cy="4279392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37360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2B5E94"/>
                </a:solidFill>
                <a:latin typeface="Noto Sans CJK KR"/>
              </a:rPr>
              <a:t>따릉이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67128"/>
            <a:ext cx="297180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1E2D44"/>
                </a:solidFill>
                <a:latin typeface="Noto Sans CJK KR"/>
              </a:rPr>
              <a:t>서울시 공공자전거 대여이력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816352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606A78"/>
                </a:solidFill>
                <a:latin typeface="Noto Sans CJK KR"/>
              </a:rPr>
              <a:t>2025년 대여 상세 이력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29000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1">
                <a:solidFill>
                  <a:srgbClr val="3A7A47"/>
                </a:solidFill>
                <a:latin typeface="Noto Sans CJK KR"/>
              </a:rPr>
              <a:t>1월 파일 1,704,188행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977639"/>
            <a:ext cx="290779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10" b="0">
                <a:solidFill>
                  <a:srgbClr val="232930"/>
                </a:solidFill>
                <a:latin typeface="Noto Sans CJK KR"/>
              </a:rPr>
              <a:t>대여일시 기반 시간대 집계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9328" y="1417320"/>
            <a:ext cx="3529584" cy="4279392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737360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2B5E94"/>
                </a:solidFill>
                <a:latin typeface="Noto Sans CJK KR"/>
              </a:rPr>
              <a:t>지하철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167128"/>
            <a:ext cx="297180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1E2D44"/>
                </a:solidFill>
                <a:latin typeface="Noto Sans CJK KR"/>
              </a:rPr>
              <a:t>서울교통공사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816352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606A78"/>
                </a:solidFill>
                <a:latin typeface="Noto Sans CJK KR"/>
              </a:rPr>
              <a:t>2025년 역별·일별·시간대별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429000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1">
                <a:solidFill>
                  <a:srgbClr val="3A7A47"/>
                </a:solidFill>
                <a:latin typeface="Noto Sans CJK KR"/>
              </a:rPr>
              <a:t>199,424행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977639"/>
            <a:ext cx="290779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10" b="0">
                <a:solidFill>
                  <a:srgbClr val="232930"/>
                </a:solidFill>
                <a:latin typeface="Noto Sans CJK KR"/>
              </a:rPr>
              <a:t>승차 데이터 선택 후 역별 합산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870448"/>
            <a:ext cx="106984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30" b="0">
                <a:solidFill>
                  <a:srgbClr val="606A78"/>
                </a:solidFill>
                <a:latin typeface="Noto Sans CJK KR"/>
              </a:rPr>
              <a:t>※ 원본 CSV는 cp949로 읽고, 전처리 후 UTF-8-SIG CSV로 저장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4206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B5E94"/>
                </a:solidFill>
                <a:latin typeface="Noto Sans CJK KR"/>
              </a:rPr>
              <a:t>활용데이터 및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146304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80" b="1">
                <a:solidFill>
                  <a:srgbClr val="606A78"/>
                </a:solidFill>
                <a:latin typeface="Noto Sans CJK KR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18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D44"/>
                </a:solidFill>
                <a:latin typeface="Noto Sans CJK KR"/>
              </a:rPr>
              <a:t>전처리 및 통합 과정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23444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08176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B5E94"/>
                </a:solidFill>
                <a:latin typeface="Noto Sans CJK KR"/>
              </a:rPr>
              <a:t>따릉이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62456"/>
            <a:ext cx="85039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70" b="0">
                <a:solidFill>
                  <a:srgbClr val="232930"/>
                </a:solidFill>
                <a:latin typeface="Noto Sans CJK KR"/>
              </a:rPr>
              <a:t>대여일시 → 1시간 단위 대여건수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123444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48256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B5E94"/>
                </a:solidFill>
                <a:latin typeface="Noto Sans CJK KR"/>
              </a:rPr>
              <a:t>지하철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002536"/>
            <a:ext cx="85039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70" b="0">
                <a:solidFill>
                  <a:srgbClr val="232930"/>
                </a:solidFill>
                <a:latin typeface="Noto Sans CJK KR"/>
              </a:rPr>
              <a:t>승차만 선택 → 역별 합산 → melt()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51760"/>
            <a:ext cx="123444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688336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B5E94"/>
                </a:solidFill>
                <a:latin typeface="Noto Sans CJK KR"/>
              </a:rPr>
              <a:t>기온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642616"/>
            <a:ext cx="85039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70" b="0">
                <a:solidFill>
                  <a:srgbClr val="232930"/>
                </a:solidFill>
                <a:latin typeface="Noto Sans CJK KR"/>
              </a:rPr>
              <a:t>시간별 관측값 → 동일 시간대 대응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91839"/>
            <a:ext cx="123444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328415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B5E94"/>
                </a:solidFill>
                <a:latin typeface="Noto Sans CJK KR"/>
              </a:rPr>
              <a:t>공통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282696"/>
            <a:ext cx="85039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70" b="0">
                <a:solidFill>
                  <a:srgbClr val="232930"/>
                </a:solidFill>
                <a:latin typeface="Noto Sans CJK KR"/>
              </a:rPr>
              <a:t>날짜 + 시간대 → 3개 데이터 merge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60520"/>
            <a:ext cx="10625328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23367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1">
                <a:solidFill>
                  <a:srgbClr val="2B5E94"/>
                </a:solidFill>
                <a:latin typeface="Noto Sans CJK KR"/>
              </a:rPr>
              <a:t>06~23시만 사용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206240"/>
            <a:ext cx="929944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0">
                <a:solidFill>
                  <a:srgbClr val="232930"/>
                </a:solidFill>
                <a:latin typeface="Noto Sans CJK KR"/>
              </a:rPr>
              <a:t>지하철 원본에 ‘06시이전’과 ‘24시이후’처럼 여러 시간을 하나로 묶은 컬럼이 있어 세부 시간대로 대응할 수 없습니다. 따라서 06-07 ~ 23-24만 공통 분석 대상으로 사용했습니다.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85232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2B5E94"/>
                </a:solidFill>
                <a:latin typeface="Noto Sans CJK KR"/>
              </a:rPr>
              <a:t>주말·공휴일 제외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230368"/>
            <a:ext cx="87782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70" b="0">
                <a:solidFill>
                  <a:srgbClr val="232930"/>
                </a:solidFill>
                <a:latin typeface="Noto Sans CJK KR"/>
              </a:rPr>
              <a:t>평일과 주말·공휴일은 이용 목적과 패턴이 다를 가능성이 크다고 가정해, 기온-이용량 관계에서 요일·휴일 효과를 줄였습니다.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4206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B5E94"/>
                </a:solidFill>
                <a:latin typeface="Noto Sans CJK KR"/>
              </a:rPr>
              <a:t>활용데이터 및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146304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80" b="1">
                <a:solidFill>
                  <a:srgbClr val="606A78"/>
                </a:solidFill>
                <a:latin typeface="Noto Sans CJK KR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18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D44"/>
                </a:solidFill>
                <a:latin typeface="Noto Sans CJK KR"/>
              </a:rPr>
              <a:t>최종 분석 데이터 형태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69264"/>
            <a:ext cx="10744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30" b="0">
                <a:solidFill>
                  <a:srgbClr val="606A78"/>
                </a:solidFill>
                <a:latin typeface="Noto Sans CJK KR"/>
              </a:rPr>
              <a:t>한 행 = 특정 날짜 × 특정 시간대</a:t>
            </a:r>
          </a:p>
        </p:txBody>
      </p:sp>
      <p:pic>
        <p:nvPicPr>
          <p:cNvPr id="6" name="Picture 5" descr="e2fdf1f0-19ce-4d08-a505-2508f100d7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341" y="1371600"/>
            <a:ext cx="3923916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" y="1389888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00784"/>
            <a:ext cx="1188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5E94"/>
                </a:solidFill>
                <a:latin typeface="Noto Sans CJK KR"/>
              </a:rPr>
              <a:t>최종 컬럼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03120"/>
            <a:ext cx="2834640" cy="2423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20" b="0">
                <a:solidFill>
                  <a:srgbClr val="1E2D44"/>
                </a:solidFill>
                <a:latin typeface="Noto Sans CJK KR"/>
              </a:rPr>
              <a:t>날짜
시간대
따릉이대여건수
지하철승차인원
기온(°C)
요일 / 요일명
주말여부 / 공휴일여부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736592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5E94"/>
                </a:solidFill>
                <a:latin typeface="Noto Sans CJK KR"/>
              </a:rPr>
              <a:t>최종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102352"/>
            <a:ext cx="2926080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32930"/>
                </a:solidFill>
                <a:latin typeface="Noto Sans CJK KR"/>
              </a:rPr>
              <a:t>2,196개 공통 날짜×시간대
→ 평일·비공휴일 1,494개 관측값
→ 83일 × 18시간대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4206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B5E94"/>
                </a:solidFill>
                <a:latin typeface="Noto Sans CJK KR"/>
              </a:rPr>
              <a:t>기본 이용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146304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80" b="1">
                <a:solidFill>
                  <a:srgbClr val="606A78"/>
                </a:solidFill>
                <a:latin typeface="Noto Sans CJK KR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18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D44"/>
                </a:solidFill>
                <a:latin typeface="Noto Sans CJK KR"/>
              </a:rPr>
              <a:t>시간대별 이용 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69264"/>
            <a:ext cx="10744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30" b="0">
                <a:solidFill>
                  <a:srgbClr val="606A78"/>
                </a:solidFill>
                <a:latin typeface="Noto Sans CJK KR"/>
              </a:rPr>
              <a:t>기온과의 관계를 보기 전에 시간대 효과를 확인</a:t>
            </a:r>
          </a:p>
        </p:txBody>
      </p:sp>
      <p:pic>
        <p:nvPicPr>
          <p:cNvPr id="6" name="Picture 5" descr="09_시간대별_이용지수_비교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83417"/>
            <a:ext cx="6995160" cy="3074044"/>
          </a:xfrm>
          <a:prstGeom prst="rect">
            <a:avLst/>
          </a:prstGeom>
        </p:spPr>
      </p:pic>
      <p:pic>
        <p:nvPicPr>
          <p:cNvPr id="7" name="Picture 6" descr="07_시간대별_평균따릉이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1565526"/>
            <a:ext cx="3611880" cy="1587251"/>
          </a:xfrm>
          <a:prstGeom prst="rect">
            <a:avLst/>
          </a:prstGeom>
        </p:spPr>
      </p:pic>
      <p:pic>
        <p:nvPicPr>
          <p:cNvPr id="8" name="Picture 7" descr="08_시간대별_평균지하철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88" y="3787518"/>
            <a:ext cx="3611880" cy="15872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779008"/>
            <a:ext cx="10789920" cy="576072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5852160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1">
                <a:solidFill>
                  <a:srgbClr val="2B5E94"/>
                </a:solidFill>
                <a:latin typeface="Noto Sans CJK KR"/>
              </a:rPr>
              <a:t>분석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5824728"/>
            <a:ext cx="9464040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0">
                <a:solidFill>
                  <a:srgbClr val="232930"/>
                </a:solidFill>
                <a:latin typeface="Noto Sans CJK KR"/>
              </a:rPr>
              <a:t>두 교통수단 모두 시간대에 따른 이용량 차이가 매우 큽니다. 따라서 전체 상관분석에서는 시간대 효과와 기온 효과가 섞일 수 있어, 이후 같은 시간대끼리 비교합니다.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4206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B5E94"/>
                </a:solidFill>
                <a:latin typeface="Noto Sans CJK KR"/>
              </a:rPr>
              <a:t>기온-이용량 관계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146304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80" b="1">
                <a:solidFill>
                  <a:srgbClr val="606A78"/>
                </a:solidFill>
                <a:latin typeface="Noto Sans CJK KR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18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D44"/>
                </a:solidFill>
                <a:latin typeface="Noto Sans CJK KR"/>
              </a:rPr>
              <a:t>전체 관측값의 상관관계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69264"/>
            <a:ext cx="10744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30" b="0">
                <a:solidFill>
                  <a:srgbClr val="606A78"/>
                </a:solidFill>
                <a:latin typeface="Noto Sans CJK KR"/>
              </a:rPr>
              <a:t>1,494개 관측값을 한 번에 사용</a:t>
            </a:r>
          </a:p>
        </p:txBody>
      </p:sp>
      <p:pic>
        <p:nvPicPr>
          <p:cNvPr id="6" name="Picture 5" descr="12_전체_Spearman_상관관계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32" y="1371600"/>
            <a:ext cx="5636271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408176"/>
            <a:ext cx="4800600" cy="4352544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700784"/>
            <a:ext cx="146304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5E94"/>
                </a:solidFill>
                <a:latin typeface="Noto Sans CJK KR"/>
              </a:rPr>
              <a:t>상관계수란?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057400"/>
            <a:ext cx="38404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10" b="0">
                <a:solidFill>
                  <a:srgbClr val="232930"/>
                </a:solidFill>
                <a:latin typeface="Noto Sans CJK KR"/>
              </a:rPr>
              <a:t>두 변수가 함께 움직이는 정도와 방향을 -1 ~ +1로 표현합니다.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788920"/>
            <a:ext cx="10515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1">
                <a:solidFill>
                  <a:srgbClr val="2B5E94"/>
                </a:solidFill>
                <a:latin typeface="Noto Sans CJK KR"/>
              </a:rPr>
              <a:t>Pearson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715768"/>
            <a:ext cx="23774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40" b="1">
                <a:solidFill>
                  <a:srgbClr val="1E2D44"/>
                </a:solidFill>
                <a:latin typeface="Noto Sans CJK KR"/>
              </a:rPr>
              <a:t>따릉이 0.423
지하철 0.013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474720"/>
            <a:ext cx="10515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1">
                <a:solidFill>
                  <a:srgbClr val="2B5E94"/>
                </a:solidFill>
                <a:latin typeface="Noto Sans CJK KR"/>
              </a:rPr>
              <a:t>Spearman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401568"/>
            <a:ext cx="23774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40" b="1">
                <a:solidFill>
                  <a:srgbClr val="1E2D44"/>
                </a:solidFill>
                <a:latin typeface="Noto Sans CJK KR"/>
              </a:rPr>
              <a:t>따릉이 0.463
지하철 0.016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187952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80" b="1">
                <a:solidFill>
                  <a:srgbClr val="2B5E94"/>
                </a:solidFill>
                <a:latin typeface="Noto Sans CJK KR"/>
              </a:rPr>
              <a:t>해석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133087"/>
            <a:ext cx="30632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1">
                <a:solidFill>
                  <a:srgbClr val="232930"/>
                </a:solidFill>
                <a:latin typeface="Noto Sans CJK KR"/>
              </a:rPr>
              <a:t>따릉이는 양(+)의 관계가 나타났지만
지하철은 전체적으로 거의 관계가 없습니다.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843016"/>
            <a:ext cx="10972800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916168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1">
                <a:solidFill>
                  <a:srgbClr val="2B5E94"/>
                </a:solidFill>
                <a:latin typeface="Noto Sans CJK KR"/>
              </a:rPr>
              <a:t>주의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5888736"/>
            <a:ext cx="96469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0">
                <a:solidFill>
                  <a:srgbClr val="232930"/>
                </a:solidFill>
                <a:latin typeface="Noto Sans CJK KR"/>
              </a:rPr>
              <a:t>상관관계는 인과관계가 아닙니다. 이 수치만으로 ‘기온이 이용량을 변화시켰다’고 단정할 수 없습니다.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4206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B5E94"/>
                </a:solidFill>
                <a:latin typeface="Noto Sans CJK KR"/>
              </a:rPr>
              <a:t>기온-이용량 관계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146304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80" b="1">
                <a:solidFill>
                  <a:srgbClr val="606A78"/>
                </a:solidFill>
                <a:latin typeface="Noto Sans CJK KR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18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D44"/>
                </a:solidFill>
                <a:latin typeface="Noto Sans CJK KR"/>
              </a:rPr>
              <a:t>일별·시간대별로 관계 재확인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69264"/>
            <a:ext cx="10744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30" b="0">
                <a:solidFill>
                  <a:srgbClr val="606A78"/>
                </a:solidFill>
                <a:latin typeface="Noto Sans CJK KR"/>
              </a:rPr>
              <a:t>전체 상관관계가 시간대 구조에만 의해 나타난 것은 아닌지 확인</a:t>
            </a:r>
          </a:p>
        </p:txBody>
      </p:sp>
      <p:pic>
        <p:nvPicPr>
          <p:cNvPr id="6" name="Picture 5" descr="16_시간대별_기온_민감도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009434"/>
            <a:ext cx="6967728" cy="3058587"/>
          </a:xfrm>
          <a:prstGeom prst="rect">
            <a:avLst/>
          </a:prstGeom>
        </p:spPr>
      </p:pic>
      <p:pic>
        <p:nvPicPr>
          <p:cNvPr id="7" name="Picture 6" descr="20_일평균기온_vs_일일따릉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426" y="1417320"/>
            <a:ext cx="3158682" cy="1874519"/>
          </a:xfrm>
          <a:prstGeom prst="rect">
            <a:avLst/>
          </a:prstGeom>
        </p:spPr>
      </p:pic>
      <p:pic>
        <p:nvPicPr>
          <p:cNvPr id="8" name="Picture 7" descr="21_일평균기온_vs_일일지하철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426" y="3584448"/>
            <a:ext cx="3158682" cy="18745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" y="5797296"/>
            <a:ext cx="10972800" cy="603504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5870448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1">
                <a:solidFill>
                  <a:srgbClr val="2B5E94"/>
                </a:solidFill>
                <a:latin typeface="Noto Sans CJK KR"/>
              </a:rPr>
              <a:t>무엇을 확인했나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5843016"/>
            <a:ext cx="964692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0">
                <a:solidFill>
                  <a:srgbClr val="232930"/>
                </a:solidFill>
                <a:latin typeface="Noto Sans CJK KR"/>
              </a:rPr>
              <a:t>일별: 18개 시간대를 하루 단위로 합쳐 83일을 비교. 시간대별: 06-07시처럼 같은 시간대의 83일 자료만 묶어 상관계수를 계산하고 18개 시간대에 반복.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4206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B5E94"/>
                </a:solidFill>
                <a:latin typeface="Noto Sans CJK KR"/>
              </a:rPr>
              <a:t>기온-이용량 관계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146304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80" b="1">
                <a:solidFill>
                  <a:srgbClr val="606A78"/>
                </a:solidFill>
                <a:latin typeface="Noto Sans CJK KR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18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D44"/>
                </a:solidFill>
                <a:latin typeface="Noto Sans CJK KR"/>
              </a:rPr>
              <a:t>기온 구간별 이용 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69264"/>
            <a:ext cx="10744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30" b="0">
                <a:solidFill>
                  <a:srgbClr val="606A78"/>
                </a:solidFill>
                <a:latin typeface="Noto Sans CJK KR"/>
              </a:rPr>
              <a:t>절대 이용량과 상대 이용 수준을 함께 확인</a:t>
            </a:r>
          </a:p>
        </p:txBody>
      </p:sp>
      <p:pic>
        <p:nvPicPr>
          <p:cNvPr id="6" name="Picture 5" descr="19_기온구간별_이용지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731834"/>
            <a:ext cx="6967728" cy="3632075"/>
          </a:xfrm>
          <a:prstGeom prst="rect">
            <a:avLst/>
          </a:prstGeom>
        </p:spPr>
      </p:pic>
      <p:pic>
        <p:nvPicPr>
          <p:cNvPr id="7" name="Picture 6" descr="17_기온구간별_따릉이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427" y="1417320"/>
            <a:ext cx="3648680" cy="1901952"/>
          </a:xfrm>
          <a:prstGeom prst="rect">
            <a:avLst/>
          </a:prstGeom>
        </p:spPr>
      </p:pic>
      <p:pic>
        <p:nvPicPr>
          <p:cNvPr id="8" name="Picture 7" descr="18_기온구간별_지하철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427" y="3611880"/>
            <a:ext cx="3648680" cy="19019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" y="5815584"/>
            <a:ext cx="10972800" cy="585216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5888736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1">
                <a:solidFill>
                  <a:srgbClr val="2B5E94"/>
                </a:solidFill>
                <a:latin typeface="Noto Sans CJK KR"/>
              </a:rPr>
              <a:t>이용지수란?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5861304"/>
            <a:ext cx="9646920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0">
                <a:solidFill>
                  <a:srgbClr val="232930"/>
                </a:solidFill>
                <a:latin typeface="Noto Sans CJK KR"/>
              </a:rPr>
              <a:t>전체 평균 이용량을 100으로 두고, 각 기온 구간의 이용량이 평소보다 높은지·낮은지를 상대적으로 나타낸 값입니다. 교통수단 규모가 달라도 같은 기준으로 비교할 수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4206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B5E94"/>
                </a:solidFill>
                <a:latin typeface="Noto Sans CJK KR"/>
              </a:rPr>
              <a:t>기온-이용량 관계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146304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80" b="1">
                <a:solidFill>
                  <a:srgbClr val="606A78"/>
                </a:solidFill>
                <a:latin typeface="Noto Sans CJK KR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18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D44"/>
                </a:solidFill>
                <a:latin typeface="Noto Sans CJK KR"/>
              </a:rPr>
              <a:t>월 × 시간대 이용 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69264"/>
            <a:ext cx="10744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30" b="0">
                <a:solidFill>
                  <a:srgbClr val="606A78"/>
                </a:solidFill>
                <a:latin typeface="Noto Sans CJK KR"/>
              </a:rPr>
              <a:t>상관계수와 별개로 계절·시간대의 기본 이용 수준을 확인</a:t>
            </a:r>
          </a:p>
        </p:txBody>
      </p:sp>
      <p:pic>
        <p:nvPicPr>
          <p:cNvPr id="6" name="Picture 5" descr="22_월별_시간대별_따릉이_히트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777" y="1353312"/>
            <a:ext cx="5404253" cy="2103120"/>
          </a:xfrm>
          <a:prstGeom prst="rect">
            <a:avLst/>
          </a:prstGeom>
        </p:spPr>
      </p:pic>
      <p:pic>
        <p:nvPicPr>
          <p:cNvPr id="7" name="Picture 6" descr="23_월별_시간대별_지하철_히트맵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718" y="3657600"/>
            <a:ext cx="543837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133856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3A7A47"/>
                </a:solidFill>
                <a:latin typeface="Noto Sans CJK KR"/>
              </a:rPr>
              <a:t>따릉이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438144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80" b="1">
                <a:solidFill>
                  <a:srgbClr val="2B5E94"/>
                </a:solidFill>
                <a:latin typeface="Noto Sans CJK KR"/>
              </a:rPr>
              <a:t>지하철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934456"/>
            <a:ext cx="11045952" cy="438912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007608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1">
                <a:solidFill>
                  <a:srgbClr val="2B5E94"/>
                </a:solidFill>
                <a:latin typeface="Noto Sans CJK KR"/>
              </a:rPr>
              <a:t>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5980176"/>
            <a:ext cx="972007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0">
                <a:solidFill>
                  <a:srgbClr val="232930"/>
                </a:solidFill>
                <a:latin typeface="Noto Sans CJK KR"/>
              </a:rPr>
              <a:t>지하철은 월별 수준 차이가 상대적으로 작고 시간대 패턴이 반복됩니다. 따릉이는 상대적으로 따뜻한 3월·6월에서 같은 시간대 이용 수준이 더 높게 나타납니다.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4206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B5E94"/>
                </a:solidFill>
                <a:latin typeface="Noto Sans CJK KR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146304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80" b="1">
                <a:solidFill>
                  <a:srgbClr val="606A78"/>
                </a:solidFill>
                <a:latin typeface="Noto Sans CJK KR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18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D44"/>
                </a:solidFill>
                <a:latin typeface="Noto Sans CJK KR"/>
              </a:rPr>
              <a:t>이동수단별 기온 반응 비교</a:t>
            </a:r>
          </a:p>
        </p:txBody>
      </p:sp>
      <p:pic>
        <p:nvPicPr>
          <p:cNvPr id="5" name="Picture 4" descr="13_기온_vs_따릉이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33293"/>
            <a:ext cx="5358384" cy="3179933"/>
          </a:xfrm>
          <a:prstGeom prst="rect">
            <a:avLst/>
          </a:prstGeom>
        </p:spPr>
      </p:pic>
      <p:pic>
        <p:nvPicPr>
          <p:cNvPr id="6" name="Picture 5" descr="14_기온_vs_지하철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633293"/>
            <a:ext cx="5358384" cy="31799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193792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3A7A47"/>
                </a:solidFill>
                <a:latin typeface="Noto Sans CJK KR"/>
              </a:rPr>
              <a:t>따릉이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1" y="5157216"/>
            <a:ext cx="37947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70" b="0">
                <a:solidFill>
                  <a:srgbClr val="232930"/>
                </a:solidFill>
                <a:latin typeface="Noto Sans CJK KR"/>
              </a:rPr>
              <a:t>기온과 이용량의 양(+)의 관계가 상대적으로 뚜렷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5193792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5E94"/>
                </a:solidFill>
                <a:latin typeface="Noto Sans CJK KR"/>
              </a:rPr>
              <a:t>지하철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157216"/>
            <a:ext cx="37490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70" b="0">
                <a:solidFill>
                  <a:srgbClr val="232930"/>
                </a:solidFill>
                <a:latin typeface="Noto Sans CJK KR"/>
              </a:rPr>
              <a:t>기온과의 관계가 약하고 시간대 영향이 더 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06440"/>
            <a:ext cx="10927080" cy="566928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587959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1">
                <a:solidFill>
                  <a:srgbClr val="2B5E94"/>
                </a:solidFill>
                <a:latin typeface="Noto Sans CJK KR"/>
              </a:rPr>
              <a:t>주의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5852159"/>
            <a:ext cx="960120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0">
                <a:solidFill>
                  <a:srgbClr val="232930"/>
                </a:solidFill>
                <a:latin typeface="Noto Sans CJK KR"/>
              </a:rPr>
              <a:t>두 결과 모두 ‘기온이 원인’이라는 뜻이 아니라 데이터에서 관찰된 관계의 차이를 의미합니다.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4206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B5E94"/>
                </a:solidFill>
                <a:latin typeface="Noto Sans CJK KR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146304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80" b="1">
                <a:solidFill>
                  <a:srgbClr val="606A78"/>
                </a:solidFill>
                <a:latin typeface="Noto Sans CJK KR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18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D44"/>
                </a:solidFill>
                <a:latin typeface="Noto Sans CJK KR"/>
              </a:rPr>
              <a:t>결론 · 기대효과 · 한계 및 향후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98448"/>
            <a:ext cx="10972800" cy="1115568"/>
          </a:xfrm>
          <a:prstGeom prst="roundRect">
            <a:avLst/>
          </a:prstGeom>
          <a:solidFill>
            <a:srgbClr val="F5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17904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80" b="1">
                <a:solidFill>
                  <a:srgbClr val="2B5E94"/>
                </a:solidFill>
                <a:latin typeface="Noto Sans CJK KR"/>
              </a:rPr>
              <a:t>최종 결론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408176"/>
            <a:ext cx="909828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40" b="1">
                <a:solidFill>
                  <a:srgbClr val="1E2D44"/>
                </a:solidFill>
                <a:latin typeface="Noto Sans CJK KR"/>
              </a:rPr>
              <a:t>따릉이는 시간대 효과가 강한 가운데 기온과도 비교적 일관된 양(+)의 관계가 나타났고,
지하철은 기온보다 시간대에 따른 이용 패턴의 방향과 강도 변화가 더 크게 나타났습니다.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5E94"/>
                </a:solidFill>
                <a:latin typeface="Noto Sans CJK KR"/>
              </a:rPr>
              <a:t>기대효과 / 활용방향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54096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40" b="1">
                <a:solidFill>
                  <a:srgbClr val="2B5E94"/>
                </a:solidFill>
                <a:latin typeface="Noto Sans CJK KR"/>
              </a:rPr>
              <a:t>학문적 의의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044952"/>
            <a:ext cx="8595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40" b="0">
                <a:solidFill>
                  <a:srgbClr val="232930"/>
                </a:solidFill>
                <a:latin typeface="Noto Sans CJK KR"/>
              </a:rPr>
              <a:t>기온과 서울시 이동수단 이용량의 관계를 데이터 기반으로 확인하는 기초자료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29584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40" b="1">
                <a:solidFill>
                  <a:srgbClr val="2B5E94"/>
                </a:solidFill>
                <a:latin typeface="Noto Sans CJK KR"/>
              </a:rPr>
              <a:t>산업적 가치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3520440"/>
            <a:ext cx="8595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40" b="0">
                <a:solidFill>
                  <a:srgbClr val="232930"/>
                </a:solidFill>
                <a:latin typeface="Noto Sans CJK KR"/>
              </a:rPr>
              <a:t>기온에 따른 따릉이 이용수요 변화 파악 → 운영·수요관리 참고자료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005072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40" b="1">
                <a:solidFill>
                  <a:srgbClr val="2B5E94"/>
                </a:solidFill>
                <a:latin typeface="Noto Sans CJK KR"/>
              </a:rPr>
              <a:t>정책적 활용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995928"/>
            <a:ext cx="8595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40" b="0">
                <a:solidFill>
                  <a:srgbClr val="232930"/>
                </a:solidFill>
                <a:latin typeface="Noto Sans CJK KR"/>
              </a:rPr>
              <a:t>기상환경을 고려한 교통수요 관리 및 공공자전거 운영정책 참고자료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480560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40" b="1">
                <a:solidFill>
                  <a:srgbClr val="2B5E94"/>
                </a:solidFill>
                <a:latin typeface="Noto Sans CJK KR"/>
              </a:rPr>
              <a:t>사회적 파급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4471416"/>
            <a:ext cx="8595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40" b="0">
                <a:solidFill>
                  <a:srgbClr val="232930"/>
                </a:solidFill>
                <a:latin typeface="Noto Sans CJK KR"/>
              </a:rPr>
              <a:t>기상환경을 고려한 효율적인 도시 교통·공공교통 서비스 운영에 기여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166360"/>
            <a:ext cx="14630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5E94"/>
                </a:solidFill>
                <a:latin typeface="Noto Sans CJK KR"/>
              </a:rPr>
              <a:t>한계 / 향후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5056632"/>
            <a:ext cx="8613648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40" b="0">
                <a:solidFill>
                  <a:srgbClr val="232930"/>
                </a:solidFill>
                <a:latin typeface="Noto Sans CJK KR"/>
              </a:rPr>
              <a:t>2025년 3·6·9·12월, 평일·비공휴일 중심의 탐색적 분석입니다. 향후 연중·다년 데이터와 강수·풍속·미세먼지 등 추가 변수를 포함하고 회귀분석으로 기온의 독립적 영향을 검증한 뒤 수요예측으로 확장할 수 있습니다.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254496"/>
            <a:ext cx="104241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80" b="1">
                <a:solidFill>
                  <a:srgbClr val="2B5E94"/>
                </a:solidFill>
                <a:latin typeface="Noto Sans CJK KR"/>
              </a:rPr>
              <a:t>상관관계 ≠ 인과관계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4206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B5E94"/>
                </a:solidFill>
                <a:latin typeface="Noto Sans CJK KR"/>
              </a:rPr>
              <a:t>참고자료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146304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80" b="1">
                <a:solidFill>
                  <a:srgbClr val="606A78"/>
                </a:solidFill>
                <a:latin typeface="Noto Sans CJK KR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18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E2D44"/>
                </a:solidFill>
                <a:latin typeface="Noto Sans CJK KR"/>
              </a:rPr>
              <a:t>활용 데이터 출처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335024"/>
            <a:ext cx="10744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81328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5E94"/>
                </a:solidFill>
                <a:latin typeface="Noto Sans CJK KR"/>
              </a:rPr>
              <a:t>기온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472184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E2D44"/>
                </a:solidFill>
                <a:latin typeface="Noto Sans CJK KR"/>
              </a:rPr>
              <a:t>기상청 ASOS · 서울 108번 지점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10512"/>
            <a:ext cx="8915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606A78"/>
                </a:solidFill>
                <a:latin typeface="Noto Sans CJK KR"/>
              </a:rPr>
              <a:t>https://data.seoul.go.kr/dataList/OA-15182/F/1/datasetView.do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542032"/>
            <a:ext cx="10744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88336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5E94"/>
                </a:solidFill>
                <a:latin typeface="Noto Sans CJK KR"/>
              </a:rPr>
              <a:t>따릉이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679192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E2D44"/>
                </a:solidFill>
                <a:latin typeface="Noto Sans CJK KR"/>
              </a:rPr>
              <a:t>서울시 공공자전거 대여이력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017520"/>
            <a:ext cx="8915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606A78"/>
                </a:solidFill>
                <a:latin typeface="Noto Sans CJK KR"/>
              </a:rPr>
              <a:t>https://data.seoul.go.kr/dataList/OA-15182/F/1/datasetView.do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749039"/>
            <a:ext cx="10744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95344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5E94"/>
                </a:solidFill>
                <a:latin typeface="Noto Sans CJK KR"/>
              </a:rPr>
              <a:t>지하철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886200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E2D44"/>
                </a:solidFill>
                <a:latin typeface="Noto Sans CJK KR"/>
              </a:rPr>
              <a:t>서울교통공사 역별 일별 시간대별 승하차인원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24527"/>
            <a:ext cx="8915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606A78"/>
                </a:solidFill>
                <a:latin typeface="Noto Sans CJK KR"/>
              </a:rPr>
              <a:t>https://data.seoul.go.kr/dataList/OA-12921/F/1/datasetView.do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5321808"/>
            <a:ext cx="106070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606A78"/>
                </a:solidFill>
                <a:latin typeface="Noto Sans CJK KR"/>
              </a:rPr>
              <a:t>※ 데이터 미리보기 이미지는 활용데이터 페이지에 추가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