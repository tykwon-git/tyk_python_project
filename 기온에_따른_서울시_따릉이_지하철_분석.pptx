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8495" autoAdjust="0"/>
  </p:normalViewPr>
  <p:slideViewPr>
    <p:cSldViewPr snapToGrid="0" snapToObjects="1">
      <p:cViewPr varScale="1">
        <p:scale>
          <a:sx n="69" d="100"/>
          <a:sy n="69" d="100"/>
        </p:scale>
        <p:origin x="522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AACD47-2D6E-491F-9C5C-C14CEB6860A9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65D7FC-5967-45DE-8A6B-F659BDA757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744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안녕하세요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‘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기온에 따른 서울시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따릉이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및 지하철 이용 분석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’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을 발표하겠습니다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핵심 질문은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‘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기온 변화에 따라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따릉이와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지하철의 이용 패턴은 어떻게 달라지는가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?’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입니다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  <a:endParaRPr lang="ko-KR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endParaRPr lang="en-US" altLang="ko-KR" dirty="0"/>
          </a:p>
          <a:p>
            <a:r>
              <a:rPr lang="en-US" altLang="ko-KR" dirty="0"/>
              <a:t>0010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37873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분석 배경과 목표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 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활용데이터와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전처리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 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기본 이용 패턴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기온과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이용량의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관계 분석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 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그리고 결론 순서로 설명하겠습니다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  <a:endParaRPr lang="ko-KR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endParaRPr lang="en-US" altLang="ko-KR" dirty="0"/>
          </a:p>
          <a:p>
            <a:r>
              <a:rPr lang="en-US" altLang="ko-KR" dirty="0"/>
              <a:t>0015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5398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최근 여름철 고온 등 기상환경 변화가 시민 이동에 미치는 영향에 관심을 두고 분석했습니다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따릉이는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외부 환경에 직접 노출되는 반면 지하철은 상대적으로 실내에서 이용되기 때문에 </a:t>
            </a: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같은 기온 변화에도 반응이 다를 수 있다고 보고 비교했습니다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  <a:endParaRPr lang="ko-KR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endParaRPr lang="en-US" altLang="ko-KR" dirty="0"/>
          </a:p>
          <a:p>
            <a:r>
              <a:rPr lang="en-US" altLang="ko-KR" dirty="0"/>
              <a:t>0040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92429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먼저 기본 이용 패턴을 확인하고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 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기온과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이용량의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관계를 본 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같은 시간대끼리 비교해서 시간대별 기본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이용량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차이의 영향을 줄이고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마지막으로 두 이동수단의 반응 차이를 확인하는 것이 목표입니다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800" dirty="0">
                <a:effectLst/>
                <a:latin typeface="Noto Sans CJK KR"/>
                <a:ea typeface="Noto Sans CJK KR"/>
                <a:cs typeface="Times New Roman" panose="02020603050405020304" pitchFamily="18" charset="0"/>
              </a:rPr>
              <a:t>0055</a:t>
            </a:r>
            <a:endParaRPr lang="ko-KR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22353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800" dirty="0">
                <a:solidFill>
                  <a:srgbClr val="28303A"/>
                </a:solidFill>
                <a:effectLst/>
                <a:latin typeface="나눔바른고딕"/>
                <a:cs typeface="Times New Roman" panose="02020603050405020304" pitchFamily="18" charset="0"/>
              </a:rPr>
              <a:t>Python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과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Jupyter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 Notebook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을 중심으로 분석했고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, 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공휴일은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 holidays.KR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로 처리했습니다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.</a:t>
            </a:r>
          </a:p>
          <a:p>
            <a:endParaRPr lang="en-US" altLang="ko-KR" sz="1800" dirty="0">
              <a:solidFill>
                <a:srgbClr val="28303A"/>
              </a:solidFill>
              <a:effectLst/>
              <a:ea typeface="나눔바른고딕"/>
              <a:cs typeface="Times New Roman" panose="02020603050405020304" pitchFamily="18" charset="0"/>
            </a:endParaRPr>
          </a:p>
          <a:p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도구는 화면에서 확인하고 넘어가겠습니다</a:t>
            </a:r>
            <a:endParaRPr lang="en-US" altLang="ko-KR" sz="1800" dirty="0">
              <a:solidFill>
                <a:srgbClr val="28303A"/>
              </a:solidFill>
              <a:effectLst/>
              <a:ea typeface="나눔바른고딕"/>
              <a:cs typeface="Times New Roman" panose="02020603050405020304" pitchFamily="18" charset="0"/>
            </a:endParaRPr>
          </a:p>
          <a:p>
            <a:endParaRPr lang="en-US" altLang="ko-KR" sz="1800" dirty="0">
              <a:solidFill>
                <a:srgbClr val="28303A"/>
              </a:solidFill>
              <a:effectLst/>
              <a:cs typeface="Times New Roman" panose="02020603050405020304" pitchFamily="18" charset="0"/>
            </a:endParaRPr>
          </a:p>
          <a:p>
            <a:endParaRPr lang="en-US" altLang="ko-KR" dirty="0"/>
          </a:p>
          <a:p>
            <a:r>
              <a:rPr lang="en-US" altLang="ko-KR" dirty="0"/>
              <a:t>0100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2809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기온은 기상청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ASOS 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서울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108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번 지점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따릉이는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서울시 공공자전거 대여이력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지하철은 서울교통공사의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역별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일별 시간대별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승하차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데이터를 사용했습니다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원본 파일의 규모와 특성은 여기에서 확인하고 상세 컬럼 설명은 생략하겠습니다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  <a:endParaRPr lang="ko-KR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endParaRPr lang="en-US" altLang="ko-KR" dirty="0"/>
          </a:p>
          <a:p>
            <a:r>
              <a:rPr lang="en-US" altLang="ko-KR" dirty="0"/>
              <a:t>0120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07018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따릉이는</a:t>
            </a:r>
            <a:r>
              <a:rPr lang="ko-KR" altLang="en-US" dirty="0"/>
              <a:t> 대여일시를 기준으로 </a:t>
            </a:r>
            <a:r>
              <a:rPr lang="en-US" altLang="ko-KR" dirty="0"/>
              <a:t>1</a:t>
            </a:r>
            <a:r>
              <a:rPr lang="ko-KR" altLang="en-US" dirty="0"/>
              <a:t>시간 단위 대여건수로 집계했습니다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지하철은 승차 데이터만 선택하고 </a:t>
            </a:r>
            <a:r>
              <a:rPr lang="ko-KR" altLang="en-US" dirty="0" err="1"/>
              <a:t>역별</a:t>
            </a:r>
            <a:r>
              <a:rPr lang="ko-KR" altLang="en-US" dirty="0"/>
              <a:t> </a:t>
            </a:r>
            <a:r>
              <a:rPr lang="ko-KR" altLang="en-US" dirty="0" err="1"/>
              <a:t>이용량을</a:t>
            </a:r>
            <a:r>
              <a:rPr lang="ko-KR" altLang="en-US" dirty="0"/>
              <a:t> 합산한 뒤</a:t>
            </a:r>
            <a:r>
              <a:rPr lang="en-US" altLang="ko-KR" dirty="0"/>
              <a:t>, </a:t>
            </a:r>
            <a:r>
              <a:rPr lang="ko-KR" altLang="en-US" dirty="0"/>
              <a:t>가로로 펼쳐진 시간대 컬럼을 </a:t>
            </a:r>
            <a:r>
              <a:rPr lang="en-US" altLang="ko-KR" dirty="0"/>
              <a:t>melt</a:t>
            </a:r>
            <a:r>
              <a:rPr lang="ko-KR" altLang="en-US" dirty="0"/>
              <a:t>해서 날짜</a:t>
            </a:r>
            <a:r>
              <a:rPr lang="en-US" altLang="ko-KR" dirty="0"/>
              <a:t>·</a:t>
            </a:r>
            <a:r>
              <a:rPr lang="ko-KR" altLang="en-US" dirty="0"/>
              <a:t>시간대</a:t>
            </a:r>
            <a:r>
              <a:rPr lang="en-US" altLang="ko-KR" dirty="0"/>
              <a:t>·</a:t>
            </a:r>
            <a:r>
              <a:rPr lang="ko-KR" altLang="en-US" dirty="0"/>
              <a:t>승차인원 형태로 바꿨습니다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/>
              <a:t>기온도 동일한 시간대에 맞췄고</a:t>
            </a:r>
            <a:r>
              <a:rPr lang="en-US" altLang="ko-KR" dirty="0"/>
              <a:t>, </a:t>
            </a:r>
            <a:r>
              <a:rPr lang="ko-KR" altLang="en-US" dirty="0"/>
              <a:t>세 데이터를 날짜와 시간대를 공통 </a:t>
            </a:r>
            <a:r>
              <a:rPr lang="en-US" altLang="ko-KR" dirty="0"/>
              <a:t>key</a:t>
            </a:r>
            <a:r>
              <a:rPr lang="ko-KR" altLang="en-US" dirty="0"/>
              <a:t>로 </a:t>
            </a:r>
            <a:r>
              <a:rPr lang="en-US" altLang="ko-KR" dirty="0"/>
              <a:t>merge</a:t>
            </a:r>
            <a:r>
              <a:rPr lang="ko-KR" altLang="en-US" dirty="0"/>
              <a:t>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시간대는 </a:t>
            </a:r>
            <a:r>
              <a:rPr lang="en-US" altLang="ko-KR" dirty="0"/>
              <a:t>06</a:t>
            </a:r>
            <a:r>
              <a:rPr lang="ko-KR" altLang="en-US" dirty="0"/>
              <a:t>시부터 </a:t>
            </a:r>
            <a:r>
              <a:rPr lang="en-US" altLang="ko-KR" dirty="0"/>
              <a:t>23</a:t>
            </a:r>
            <a:r>
              <a:rPr lang="ko-KR" altLang="en-US" dirty="0"/>
              <a:t>시까지 사용했습니다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지하철 원본에 ‘</a:t>
            </a:r>
            <a:r>
              <a:rPr lang="en-US" altLang="ko-KR" dirty="0"/>
              <a:t>06</a:t>
            </a:r>
            <a:r>
              <a:rPr lang="ko-KR" altLang="en-US" dirty="0" err="1"/>
              <a:t>시이전’과</a:t>
            </a:r>
            <a:r>
              <a:rPr lang="ko-KR" altLang="en-US" dirty="0"/>
              <a:t> ‘</a:t>
            </a:r>
            <a:r>
              <a:rPr lang="en-US" altLang="ko-KR" dirty="0"/>
              <a:t>24</a:t>
            </a:r>
            <a:r>
              <a:rPr lang="ko-KR" altLang="en-US" dirty="0" err="1"/>
              <a:t>시이후’라는</a:t>
            </a:r>
            <a:r>
              <a:rPr lang="ko-KR" altLang="en-US" dirty="0"/>
              <a:t> 집계 컬럼이 있어서 세부 시간대로 정확히 대응할 수 없었기 때문입니다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또 주말과 공휴일은 평일과 이용 목적과 패턴이 다를 가능성이 있다고 가정해 제외했습니다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en-US" altLang="ko-KR" dirty="0"/>
              <a:t>0220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(melt &gt; </a:t>
            </a:r>
            <a:r>
              <a:rPr lang="ko-KR" altLang="en-US" dirty="0"/>
              <a:t>가로로 넓은 데이터를 세로로 긴 데이터로 변환</a:t>
            </a:r>
            <a:r>
              <a:rPr lang="en-US" altLang="ko-KR" dirty="0"/>
              <a:t>)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8111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그래서 분석 대상은 </a:t>
            </a:r>
            <a:r>
              <a:rPr lang="en-US" altLang="ko-KR" dirty="0"/>
              <a:t>83</a:t>
            </a:r>
            <a:r>
              <a:rPr lang="ko-KR" altLang="en-US" dirty="0"/>
              <a:t>일 </a:t>
            </a:r>
            <a:r>
              <a:rPr lang="en-US" altLang="ko-KR" dirty="0"/>
              <a:t>× 18</a:t>
            </a:r>
            <a:r>
              <a:rPr lang="ko-KR" altLang="en-US" dirty="0"/>
              <a:t>시간대</a:t>
            </a:r>
            <a:r>
              <a:rPr lang="en-US" altLang="ko-KR" dirty="0"/>
              <a:t>, </a:t>
            </a:r>
            <a:r>
              <a:rPr lang="ko-KR" altLang="en-US" dirty="0"/>
              <a:t>총 </a:t>
            </a:r>
            <a:r>
              <a:rPr lang="en-US" altLang="ko-KR" dirty="0"/>
              <a:t>1,494</a:t>
            </a:r>
            <a:r>
              <a:rPr lang="ko-KR" altLang="en-US" dirty="0"/>
              <a:t>개 </a:t>
            </a:r>
            <a:r>
              <a:rPr lang="ko-KR" altLang="en-US" dirty="0" err="1"/>
              <a:t>관측값입니다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 표에서 한 행은 특정 날짜의 특정 한 시간대를 의미합니다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기온과 두 이동수단의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이용량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 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그리고 요일과 휴일 여부가 </a:t>
            </a: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한 행에 함께 들어가므로 이후 분석은 이 공통 데이터셋에서 진행합니다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0230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41977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먼저 시간대별 이용 패턴을 확인했습니다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두 교통수단 모두 시간대에 따라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이용량이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크게 달라집니다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따라서 전체 데이터를 그대로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상관분석하면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</a:t>
            </a: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원래 시간대별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이용량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차이와 기온에 따른 차이가 섞일 수 있습니다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 때문에 이후에는 같은 시간대 안에서 기온과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이용량의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관계를 보는 방식으로 분석을 진행했습니다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  <a:endParaRPr lang="ko-KR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endParaRPr lang="en-US" altLang="ko-KR" dirty="0"/>
          </a:p>
          <a:p>
            <a:r>
              <a:rPr lang="en-US" altLang="ko-KR" dirty="0"/>
              <a:t>0315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5244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800" dirty="0">
                <a:solidFill>
                  <a:srgbClr val="28303A"/>
                </a:solidFill>
                <a:effectLst/>
                <a:latin typeface="나눔바른고딕"/>
                <a:ea typeface="Noto Sans CJK KR"/>
                <a:cs typeface="Times New Roman" panose="02020603050405020304" pitchFamily="18" charset="0"/>
              </a:rPr>
              <a:t>1,494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개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관측값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전체에서 상관관계를 계산했습니다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히트맵에서</a:t>
            </a:r>
            <a:r>
              <a:rPr lang="ko-KR" altLang="en-US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초록색으로 표시한 부분에 집중을 하면 되겠습니다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따릉이는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Pearson 0.423, Spearman 0.463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이고 지하철은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Pearson 0.013, Spearman 0.016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입니다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상관계수는 두 변수가 함께 움직이는 정도와 방향을</a:t>
            </a:r>
            <a:r>
              <a:rPr lang="en-US" altLang="ko-KR" sz="12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-1</a:t>
            </a:r>
            <a:r>
              <a:rPr lang="ko-KR" altLang="ko-KR" sz="12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에서</a:t>
            </a:r>
            <a:r>
              <a:rPr lang="en-US" altLang="ko-KR" sz="12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+1 </a:t>
            </a:r>
            <a:r>
              <a:rPr lang="ko-KR" altLang="ko-KR" sz="12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사이로 나타냅니다</a:t>
            </a:r>
            <a:r>
              <a:rPr lang="en-US" altLang="ko-KR" sz="12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</a:t>
            </a:r>
            <a:r>
              <a:rPr lang="ko-KR" altLang="ko-KR" sz="12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릉이는</a:t>
            </a:r>
            <a:r>
              <a:rPr lang="ko-KR" altLang="ko-KR" sz="12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기온과 양의 관계가 나타나지만 지하철은 전체적으로 거의 관계가 없습니다</a:t>
            </a:r>
            <a:r>
              <a:rPr lang="en-US" altLang="ko-KR" sz="12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다만 이것은 상관관계이지 인과관계가 아닙니다</a:t>
            </a:r>
            <a:r>
              <a:rPr lang="en-US" altLang="ko-KR" sz="12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  <a:endParaRPr lang="ko-KR" altLang="ko-KR" sz="12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endParaRPr lang="en-US" altLang="ko-KR" dirty="0"/>
          </a:p>
          <a:p>
            <a:r>
              <a:rPr lang="en-US" altLang="ko-KR" dirty="0"/>
              <a:t>0405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74445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46050">
              <a:lnSpc>
                <a:spcPct val="115000"/>
              </a:lnSpc>
              <a:spcAft>
                <a:spcPts val="400"/>
              </a:spcAft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일별 분석은 하루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18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개 시간대를 합쳐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83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일의 평균기온과 하루 전체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이용량을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비교한 것입니다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시간대별 분석은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06-07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시만 따로 떼어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</a:t>
            </a: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83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일의 기온과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이용량으로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상관계수를 하나 계산하고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</a:t>
            </a: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이것을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18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개 시간대에 반복한 것입니다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따라서 그래프의 각 점은 하나의 시간대에 대한 </a:t>
            </a: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상관계수입니다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따릉이는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대부분 시간대에서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0.5 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이상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 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대략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0.6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에서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0.75 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사이의 양의 관계가 반복되고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 </a:t>
            </a: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지하철은 시간대에 따라 양수와 음수가 바뀌면서 상대적으로 약합니다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따라서 전체 분석에서 확인한 교통수단 차이가 </a:t>
            </a: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특정 시간대 하나에 의해 만들어진 것만은 아니라는 점을 재확인할 수 있습니다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endParaRPr lang="en-US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r>
              <a:rPr lang="en-US" altLang="ko-KR" sz="1800" dirty="0">
                <a:effectLst/>
                <a:latin typeface="Noto Sans CJK KR"/>
                <a:ea typeface="Noto Sans CJK KR"/>
                <a:cs typeface="Times New Roman" panose="02020603050405020304" pitchFamily="18" charset="0"/>
              </a:rPr>
              <a:t>0515</a:t>
            </a: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endParaRPr lang="ko-KR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pPr marL="146050">
              <a:lnSpc>
                <a:spcPct val="115000"/>
              </a:lnSpc>
              <a:spcAft>
                <a:spcPts val="400"/>
              </a:spcAft>
            </a:pPr>
            <a:r>
              <a:rPr lang="en-US" altLang="ko-KR" sz="1800" dirty="0">
                <a:effectLst/>
                <a:latin typeface="Noto Sans CJK KR"/>
                <a:ea typeface="Noto Sans CJK KR"/>
                <a:cs typeface="Times New Roman" panose="02020603050405020304" pitchFamily="18" charset="0"/>
              </a:rPr>
              <a:t>(83</a:t>
            </a:r>
            <a:r>
              <a:rPr lang="ko-KR" altLang="ko-KR" sz="1800" dirty="0">
                <a:effectLst/>
                <a:latin typeface="Noto Sans CJK KR"/>
                <a:ea typeface="맑은 고딕" panose="020B0503020000020004" pitchFamily="50" charset="-127"/>
                <a:cs typeface="맑은 고딕" panose="020B0503020000020004" pitchFamily="50" charset="-127"/>
              </a:rPr>
              <a:t>개의</a:t>
            </a:r>
            <a:r>
              <a:rPr lang="ko-KR" altLang="ko-KR" sz="1800" dirty="0">
                <a:effectLst/>
                <a:latin typeface="Noto Sans CJK KR"/>
                <a:ea typeface="Noto Sans CJK KR"/>
                <a:cs typeface="Times New Roman" panose="02020603050405020304" pitchFamily="18" charset="0"/>
              </a:rPr>
              <a:t> </a:t>
            </a:r>
            <a:r>
              <a:rPr lang="ko-KR" altLang="ko-KR" sz="1800" dirty="0">
                <a:effectLst/>
                <a:latin typeface="Noto Sans CJK KR"/>
                <a:ea typeface="맑은 고딕" panose="020B0503020000020004" pitchFamily="50" charset="-127"/>
                <a:cs typeface="맑은 고딕" panose="020B0503020000020004" pitchFamily="50" charset="-127"/>
              </a:rPr>
              <a:t>값을</a:t>
            </a:r>
            <a:r>
              <a:rPr lang="ko-KR" altLang="ko-KR" sz="1800" dirty="0">
                <a:effectLst/>
                <a:latin typeface="Noto Sans CJK KR"/>
                <a:ea typeface="Noto Sans CJK KR"/>
                <a:cs typeface="Times New Roman" panose="02020603050405020304" pitchFamily="18" charset="0"/>
              </a:rPr>
              <a:t> </a:t>
            </a:r>
            <a:r>
              <a:rPr lang="ko-KR" altLang="ko-KR" sz="1800" dirty="0" err="1">
                <a:effectLst/>
                <a:latin typeface="Noto Sans CJK KR"/>
                <a:ea typeface="맑은 고딕" panose="020B0503020000020004" pitchFamily="50" charset="-127"/>
                <a:cs typeface="맑은 고딕" panose="020B0503020000020004" pitchFamily="50" charset="-127"/>
              </a:rPr>
              <a:t>평균낸</a:t>
            </a:r>
            <a:r>
              <a:rPr lang="ko-KR" altLang="ko-KR" sz="1800" dirty="0">
                <a:effectLst/>
                <a:latin typeface="Noto Sans CJK KR"/>
                <a:ea typeface="Noto Sans CJK KR"/>
                <a:cs typeface="Times New Roman" panose="02020603050405020304" pitchFamily="18" charset="0"/>
              </a:rPr>
              <a:t> </a:t>
            </a:r>
            <a:r>
              <a:rPr lang="ko-KR" altLang="ko-KR" sz="1800" dirty="0">
                <a:effectLst/>
                <a:latin typeface="Noto Sans CJK KR"/>
                <a:ea typeface="맑은 고딕" panose="020B0503020000020004" pitchFamily="50" charset="-127"/>
                <a:cs typeface="맑은 고딕" panose="020B0503020000020004" pitchFamily="50" charset="-127"/>
              </a:rPr>
              <a:t>것이</a:t>
            </a:r>
            <a:r>
              <a:rPr lang="ko-KR" altLang="ko-KR" sz="1800" dirty="0">
                <a:effectLst/>
                <a:latin typeface="Noto Sans CJK KR"/>
                <a:ea typeface="Noto Sans CJK KR"/>
                <a:cs typeface="Times New Roman" panose="02020603050405020304" pitchFamily="18" charset="0"/>
              </a:rPr>
              <a:t> </a:t>
            </a:r>
            <a:r>
              <a:rPr lang="ko-KR" altLang="ko-KR" sz="1800" dirty="0">
                <a:effectLst/>
                <a:latin typeface="Noto Sans CJK KR"/>
                <a:ea typeface="맑은 고딕" panose="020B0503020000020004" pitchFamily="50" charset="-127"/>
                <a:cs typeface="맑은 고딕" panose="020B0503020000020004" pitchFamily="50" charset="-127"/>
              </a:rPr>
              <a:t>아</a:t>
            </a:r>
            <a:r>
              <a:rPr lang="ko-KR" altLang="en-US" sz="1800" dirty="0">
                <a:effectLst/>
                <a:latin typeface="Noto Sans CJK KR"/>
                <a:ea typeface="맑은 고딕" panose="020B0503020000020004" pitchFamily="50" charset="-127"/>
                <a:cs typeface="맑은 고딕" panose="020B0503020000020004" pitchFamily="50" charset="-127"/>
              </a:rPr>
              <a:t>님</a:t>
            </a:r>
            <a:r>
              <a:rPr lang="en-US" altLang="ko-KR" sz="1800" dirty="0">
                <a:effectLst/>
                <a:latin typeface="Noto Sans CJK KR"/>
                <a:ea typeface="맑은 고딕" panose="020B0503020000020004" pitchFamily="50" charset="-127"/>
                <a:cs typeface="맑은 고딕" panose="020B0503020000020004" pitchFamily="50" charset="-127"/>
              </a:rPr>
              <a:t>)</a:t>
            </a:r>
            <a:endParaRPr lang="ko-KR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4742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기온을 구간으로 나누어 절대 </a:t>
            </a:r>
            <a:r>
              <a:rPr lang="ko-KR" altLang="ko-KR" sz="1800" dirty="0" err="1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이용량과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 상대 수준을 함께 봤습니다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endParaRPr lang="en-US" altLang="ko-KR" sz="1800" dirty="0">
              <a:solidFill>
                <a:srgbClr val="28303A"/>
              </a:solidFill>
              <a:effectLst/>
              <a:ea typeface="나눔바른고딕"/>
              <a:cs typeface="Times New Roman" panose="02020603050405020304" pitchFamily="18" charset="0"/>
            </a:endParaRPr>
          </a:p>
          <a:p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여기서 이용지수는 전체 평균 </a:t>
            </a:r>
            <a:r>
              <a:rPr lang="ko-KR" altLang="ko-KR" sz="1800" dirty="0" err="1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이용량을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 100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으로 두고 </a:t>
            </a:r>
            <a:endParaRPr lang="en-US" altLang="ko-KR" sz="1800" dirty="0">
              <a:solidFill>
                <a:srgbClr val="28303A"/>
              </a:solidFill>
              <a:effectLst/>
              <a:ea typeface="나눔바른고딕"/>
              <a:cs typeface="Times New Roman" panose="02020603050405020304" pitchFamily="18" charset="0"/>
            </a:endParaRPr>
          </a:p>
          <a:p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각 기온 구간의 </a:t>
            </a:r>
            <a:r>
              <a:rPr lang="ko-KR" altLang="ko-KR" sz="1800" dirty="0" err="1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이용량이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 평소보다 </a:t>
            </a:r>
            <a:r>
              <a:rPr lang="ko-KR" altLang="ko-KR" sz="1800" dirty="0" err="1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높은지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 낮은지를 보여주는 값입니다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endParaRPr lang="en-US" altLang="ko-KR" sz="1800" dirty="0">
              <a:solidFill>
                <a:srgbClr val="28303A"/>
              </a:solidFill>
              <a:effectLst/>
              <a:ea typeface="나눔바른고딕"/>
              <a:cs typeface="Times New Roman" panose="02020603050405020304" pitchFamily="18" charset="0"/>
            </a:endParaRPr>
          </a:p>
          <a:p>
            <a:r>
              <a:rPr lang="ko-KR" altLang="ko-KR" sz="1800" dirty="0" err="1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따릉이는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 온도가 높아질수록 이용지수가 전반적으로 상승하고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, </a:t>
            </a:r>
          </a:p>
          <a:p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지하철은 대부분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 100 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근처에서 움직여 변화가 상대적으로 작습니다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.</a:t>
            </a:r>
          </a:p>
          <a:p>
            <a:endParaRPr lang="en-US" altLang="ko-KR" sz="1800" dirty="0">
              <a:solidFill>
                <a:srgbClr val="28303A"/>
              </a:solidFill>
              <a:effectLst/>
              <a:cs typeface="Times New Roman" panose="02020603050405020304" pitchFamily="18" charset="0"/>
            </a:endParaRPr>
          </a:p>
          <a:p>
            <a:endParaRPr lang="en-US" altLang="ko-KR" dirty="0"/>
          </a:p>
          <a:p>
            <a:r>
              <a:rPr lang="en-US" altLang="ko-KR" dirty="0"/>
              <a:t>0600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82866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상관계수와 별개로 월과 시간대를 동시에 봤습니다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지하철은 월별 수준 차이가 상대적으로 작고 시간대 패턴이 반복됩니다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나눔바른고딕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따릉이는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같은 시간대에서도 상대적으로 따뜻한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3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월과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6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월의 이용 수준이 더 높습니다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따라서 계절별 이용 수준 차이에서도 두 교통수단의 패턴이 다르게 나타납니다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  <a:endParaRPr lang="ko-KR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endParaRPr lang="en-US" altLang="ko-KR" dirty="0"/>
          </a:p>
          <a:p>
            <a:r>
              <a:rPr lang="en-US" altLang="ko-KR" dirty="0"/>
              <a:t>0630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0552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지금까지 분석한 결과를 두 교통수단을 기준으로 정리해보겠습니다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따릉이는</a:t>
            </a:r>
            <a:r>
              <a:rPr lang="ko-KR" altLang="en-US" dirty="0"/>
              <a:t> 시간대에 따른 이용 패턴이 강하게 나타나는 가운데</a:t>
            </a:r>
            <a:r>
              <a:rPr lang="en-US" altLang="ko-KR" dirty="0"/>
              <a:t>, </a:t>
            </a:r>
          </a:p>
          <a:p>
            <a:r>
              <a:rPr lang="ko-KR" altLang="en-US" dirty="0"/>
              <a:t>기온과 </a:t>
            </a:r>
            <a:r>
              <a:rPr lang="ko-KR" altLang="en-US" dirty="0" err="1"/>
              <a:t>이용량</a:t>
            </a:r>
            <a:r>
              <a:rPr lang="ko-KR" altLang="en-US" dirty="0"/>
              <a:t> 사이에도 상대적으로 뚜렷한 양의 관계가 나타났습니다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반면 지하철은 기온과의 관계가 매우 약하고</a:t>
            </a:r>
            <a:r>
              <a:rPr lang="en-US" altLang="ko-KR" dirty="0"/>
              <a:t>, </a:t>
            </a:r>
          </a:p>
          <a:p>
            <a:r>
              <a:rPr lang="ko-KR" altLang="en-US" dirty="0"/>
              <a:t>시간대에 따른 이용 패턴의 영향이 더 크게 나타났습니다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따라서 같은 이동수단이라도 </a:t>
            </a:r>
            <a:endParaRPr lang="en-US" altLang="ko-KR" dirty="0"/>
          </a:p>
          <a:p>
            <a:r>
              <a:rPr lang="ko-KR" altLang="en-US" dirty="0"/>
              <a:t>기온에 대한 반응 정도가 다르게 나타난다는 점을 확인할 수 있었습니다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다만 여기서 말하는 관계는 상관관계이므로</a:t>
            </a:r>
            <a:r>
              <a:rPr lang="en-US" altLang="ko-KR" dirty="0"/>
              <a:t>, </a:t>
            </a:r>
          </a:p>
          <a:p>
            <a:r>
              <a:rPr lang="ko-KR" altLang="en-US" dirty="0"/>
              <a:t>기온이 </a:t>
            </a:r>
            <a:r>
              <a:rPr lang="ko-KR" altLang="en-US" dirty="0" err="1"/>
              <a:t>이용량</a:t>
            </a:r>
            <a:r>
              <a:rPr lang="ko-KR" altLang="en-US" dirty="0"/>
              <a:t> 변화의 원인이라고 해석할 수는 없습니다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0655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1989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결과적으로 지하철은 기온보다 시간대에 따른 이용 패턴의 방향과 강도가 더 크게 변했고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,</a:t>
            </a:r>
          </a:p>
          <a:p>
            <a:r>
              <a:rPr lang="ko-KR" altLang="ko-KR" sz="1800" dirty="0" err="1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따릉이는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 시간대 효과가 강한 가운데 기온과도 비교적 일관된 양의 관계가 나타났습니다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.</a:t>
            </a:r>
          </a:p>
          <a:p>
            <a:endParaRPr lang="en-US" altLang="ko-KR" sz="1800" dirty="0">
              <a:solidFill>
                <a:srgbClr val="28303A"/>
              </a:solidFill>
              <a:effectLst/>
              <a:ea typeface="나눔바른고딕"/>
              <a:cs typeface="Times New Roman" panose="02020603050405020304" pitchFamily="18" charset="0"/>
            </a:endParaRPr>
          </a:p>
          <a:p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따라서 두 이동수단의 기온 반응에는 차이가 있었습니다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다시 한 번 이것도 인과관계가 아니라 관찰된 관계의 차이입니다</a:t>
            </a:r>
            <a:endParaRPr lang="en-US" altLang="ko-KR" sz="1800" dirty="0">
              <a:solidFill>
                <a:srgbClr val="28303A"/>
              </a:solidFill>
              <a:effectLst/>
              <a:ea typeface="나눔바른고딕"/>
              <a:cs typeface="Times New Roman" panose="02020603050405020304" pitchFamily="18" charset="0"/>
            </a:endParaRPr>
          </a:p>
          <a:p>
            <a:endParaRPr lang="en-US" altLang="ko-KR" sz="1800" dirty="0">
              <a:solidFill>
                <a:srgbClr val="28303A"/>
              </a:solidFill>
              <a:effectLst/>
              <a:cs typeface="Times New Roman" panose="02020603050405020304" pitchFamily="18" charset="0"/>
            </a:endParaRPr>
          </a:p>
          <a:p>
            <a:endParaRPr lang="en-US" altLang="ko-KR" sz="1800" dirty="0">
              <a:solidFill>
                <a:srgbClr val="28303A"/>
              </a:solidFill>
              <a:effectLst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활용 측면에서는 시민 이동행태 연구의 기초자료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 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ko-KR" altLang="ko-KR" sz="1800" dirty="0" err="1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따릉이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 운영과 수요관리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, </a:t>
            </a:r>
            <a:r>
              <a:rPr lang="ko-KR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기상환경을 고려한 교통정책의 참고자료로 활용할 수 있습니다</a:t>
            </a:r>
            <a:r>
              <a:rPr lang="en-US" altLang="ko-KR" sz="1800" dirty="0">
                <a:solidFill>
                  <a:srgbClr val="28303A"/>
                </a:solidFill>
                <a:effectLst/>
                <a:latin typeface="Noto Sans CJK KR"/>
                <a:ea typeface="나눔바른고딕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endParaRPr lang="en-US" altLang="ko-KR" sz="1800" dirty="0">
              <a:solidFill>
                <a:srgbClr val="28303A"/>
              </a:solidFill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</a:pPr>
            <a:endParaRPr lang="ko-KR" altLang="ko-KR" sz="1800" dirty="0">
              <a:effectLst/>
              <a:latin typeface="Noto Sans CJK KR"/>
              <a:ea typeface="Noto Sans CJK KR"/>
              <a:cs typeface="Times New Roman" panose="02020603050405020304" pitchFamily="18" charset="0"/>
            </a:endParaRPr>
          </a:p>
          <a:p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다만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 2025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년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 3·6·9·12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월의 평일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·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비공휴일만 분석했고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, </a:t>
            </a:r>
          </a:p>
          <a:p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강수량과 풍속 등 다른 기상요인은 통제하지 않았습니다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. </a:t>
            </a:r>
          </a:p>
          <a:p>
            <a:endParaRPr lang="en-US" altLang="ko-KR" sz="1800" dirty="0">
              <a:solidFill>
                <a:srgbClr val="28303A"/>
              </a:solidFill>
              <a:effectLst/>
              <a:ea typeface="나눔바른고딕"/>
              <a:cs typeface="Times New Roman" panose="02020603050405020304" pitchFamily="18" charset="0"/>
            </a:endParaRPr>
          </a:p>
          <a:p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향후 다년</a:t>
            </a:r>
            <a:r>
              <a:rPr lang="en-US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·</a:t>
            </a:r>
            <a:r>
              <a:rPr lang="ko-KR" altLang="ko-KR" sz="1800" dirty="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연중 데이터와 추가 변수를 포함하면 수요예측으로 확장할 </a:t>
            </a:r>
            <a:r>
              <a:rPr lang="ko-KR" altLang="ko-KR" sz="180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수 있습니</a:t>
            </a:r>
            <a:r>
              <a:rPr lang="ko-KR" altLang="en-US" sz="1800">
                <a:solidFill>
                  <a:srgbClr val="28303A"/>
                </a:solidFill>
                <a:effectLst/>
                <a:ea typeface="나눔바른고딕"/>
                <a:cs typeface="Times New Roman" panose="02020603050405020304" pitchFamily="18" charset="0"/>
              </a:rPr>
              <a:t>다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65D7FC-5967-45DE-8A6B-F659BDA757C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25634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733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36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기온에</a:t>
            </a:r>
            <a:r>
              <a:rPr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36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따른</a:t>
            </a:r>
            <a:r>
              <a:rPr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36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서울시</a:t>
            </a:r>
            <a:r>
              <a:rPr lang="en-US"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36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lang="ko-KR" altLang="en-US" sz="3600" b="1" dirty="0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따</a:t>
            </a:r>
            <a:r>
              <a:rPr sz="3600" b="1" dirty="0" err="1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릉이</a:t>
            </a:r>
            <a:r>
              <a:rPr sz="3600" b="1" dirty="0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3600" b="1" dirty="0" err="1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sz="3600" b="1" dirty="0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3600" b="1" dirty="0" err="1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3600" b="1" dirty="0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3600" b="1" dirty="0" err="1">
                <a:solidFill>
                  <a:schemeClr val="bg1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endParaRPr lang="ko-KR" altLang="en-US" sz="4400" b="1" dirty="0">
              <a:solidFill>
                <a:schemeClr val="bg1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lang="ko-KR" altLang="en-US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기온이 오르면 서울 시민의 이동수단 이용은 어떻게 달라지는가</a:t>
            </a:r>
            <a:r>
              <a:rPr lang="en-US" altLang="ko-KR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5486400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발표자 </a:t>
            </a:r>
            <a:r>
              <a:rPr lang="en-US" altLang="ko-KR"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권태윤</a:t>
            </a:r>
            <a:endParaRPr lang="en-US" sz="1400" b="1" dirty="0">
              <a:solidFill>
                <a:srgbClr val="FFFFF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SeSAC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| 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AI서비스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운영을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위한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클라우드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엔지니어</a:t>
            </a:r>
            <a:r>
              <a:rPr sz="1200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과정</a:t>
            </a:r>
            <a:endParaRPr sz="1200" dirty="0">
              <a:solidFill>
                <a:srgbClr val="94A3B8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9"/>
    </mc:Choice>
    <mc:Fallback xmlns="">
      <p:transition spd="slow" advTm="869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발표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173736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01</a:t>
            </a:r>
          </a:p>
          <a:p>
            <a:pPr>
              <a:spcAft>
                <a:spcPts val="1000"/>
              </a:spcAft>
            </a:pP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배경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목표</a:t>
            </a:r>
            <a:endParaRPr sz="14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endParaRPr lang="en-US"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문제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제기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</a:t>
            </a:r>
            <a:b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기상환경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변화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대응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기획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880360" y="2194560"/>
            <a:ext cx="17373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</a:t>
            </a: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활용데이터</a:t>
            </a:r>
            <a:b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및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전처리</a:t>
            </a:r>
            <a:endParaRPr sz="16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ASOS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정보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b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교통수단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정합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93776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1737360" cy="15850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03</a:t>
            </a: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기본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패턴</a:t>
            </a:r>
            <a:endParaRPr sz="16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endParaRPr lang="en-US"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월별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시간대별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대중교통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구조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파악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13232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269480" y="2194560"/>
            <a:ext cx="17373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</a:t>
            </a: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기온-이용량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관계</a:t>
            </a:r>
            <a:r>
              <a:rPr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endParaRPr sz="16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상관분석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구간별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승차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추이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326880" y="2011680"/>
            <a:ext cx="201168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464040" y="2194560"/>
            <a:ext cx="173736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05</a:t>
            </a:r>
          </a:p>
          <a:p>
            <a:pPr algn="ctr">
              <a:spcAft>
                <a:spcPts val="1000"/>
              </a:spcAft>
            </a:pP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결론</a:t>
            </a:r>
            <a: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lang="en-US" altLang="ko-KR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기대효과</a:t>
            </a:r>
            <a:br>
              <a:rPr lang="en-US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altLang="ko-KR" sz="16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6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한계</a:t>
            </a:r>
            <a:endParaRPr sz="16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핵심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결과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도출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br>
              <a:rPr lang="en-US"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향후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확장</a:t>
            </a:r>
            <a:r>
              <a:rPr sz="11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제언</a:t>
            </a:r>
            <a:endParaRPr sz="11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10944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문제 제기  →  데이터  →  전처리  →  기본 패턴  →  관계 분석  → 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01 분석 배경 및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왜 기온과 이동수단을 비교했는가?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관심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배경</a:t>
            </a:r>
            <a:endParaRPr sz="16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최근</a:t>
            </a:r>
            <a:r>
              <a:rPr sz="14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여름철</a:t>
            </a:r>
            <a:r>
              <a:rPr sz="14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고온</a:t>
            </a:r>
            <a:r>
              <a:rPr sz="14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등 </a:t>
            </a:r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기상환경</a:t>
            </a:r>
            <a:r>
              <a:rPr sz="14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변화가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시민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이동에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미치는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영향에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관심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4937760" cy="948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분석 관점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• 따릉이 = 외부 환경에 직접 노출</a:t>
            </a:r>
          </a:p>
          <a:p>
            <a:r>
              <a:rPr sz="14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• 지하철 = 상대적으로 실내 이동수단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949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92240" y="2011680"/>
            <a:ext cx="4846320" cy="2149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8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핵심</a:t>
            </a:r>
            <a:r>
              <a:rPr sz="1800" b="1" dirty="0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8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질문</a:t>
            </a:r>
            <a:endParaRPr sz="18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3000"/>
              </a:spcAft>
            </a:pPr>
            <a:r>
              <a:rPr sz="22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22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22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변화에</a:t>
            </a:r>
            <a:r>
              <a:rPr sz="22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22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따라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패턴은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어떻게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달라지는가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?</a:t>
            </a:r>
          </a:p>
          <a:p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두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교통수단의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‘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반응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차이’를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비교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01 분석 배경 및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01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기본 이용 패턴</a:t>
            </a:r>
          </a:p>
          <a:p>
            <a:r>
              <a:rPr sz="130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월별·시간대별 이용량 구조를 먼저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493776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02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기온과 이용량</a:t>
            </a:r>
          </a:p>
          <a:p>
            <a:r>
              <a:rPr sz="130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 구간별 이용량이 어떻게 달라지는지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493776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03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시간대별 관계</a:t>
            </a:r>
          </a:p>
          <a:p>
            <a:r>
              <a:rPr sz="130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같은 시간대 안에서 기온과 이용량의 관계를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23360"/>
            <a:ext cx="53035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09360" y="4206240"/>
            <a:ext cx="4937760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04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교통수단 비교</a:t>
            </a:r>
          </a:p>
          <a:p>
            <a:r>
              <a:rPr sz="130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따릉이와 지하철의 기온 반응 차이를 확인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Python</a:t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전처리·분석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VS Code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프로젝트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개발환경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2918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83280" y="182880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Jupyter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Notebook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EDA 및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결과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32918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383280" y="3840480"/>
            <a:ext cx="23774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pandas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CSV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처리·집계·merge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065367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26480" y="182880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NumPy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수치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연산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0350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26480" y="384048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matplotlib / seaborn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시각화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7782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869680" y="1828800"/>
            <a:ext cx="237744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holidays.KR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sz="1600" dirty="0" err="1">
                <a:latin typeface="G마켓 산스 TTF Bold" pitchFamily="2" charset="-127"/>
                <a:ea typeface="G마켓 산스 TTF Bold" pitchFamily="2" charset="-127"/>
              </a:rPr>
              <a:t>공휴일·대체공휴일</a:t>
            </a:r>
            <a:r>
              <a:rPr sz="16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dirty="0" err="1">
                <a:latin typeface="G마켓 산스 TTF Bold" pitchFamily="2" charset="-127"/>
                <a:ea typeface="G마켓 산스 TTF Bold" pitchFamily="2" charset="-127"/>
              </a:rPr>
              <a:t>판별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778240" y="365760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869680" y="3840480"/>
            <a:ext cx="23774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Streamlit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최종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대시보드</a:t>
            </a:r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548640" y="5669280"/>
            <a:ext cx="11094415" cy="7315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1520" y="5806440"/>
            <a:ext cx="1072865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 err="1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특이사항</a:t>
            </a:r>
            <a:r>
              <a:rPr sz="1300" b="1" dirty="0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 : </a:t>
            </a:r>
            <a:r>
              <a:rPr sz="1300" b="1" dirty="0" err="1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한국</a:t>
            </a:r>
            <a:r>
              <a:rPr sz="1300" b="1" dirty="0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 dirty="0" err="1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공휴일·대체공휴일은</a:t>
            </a:r>
            <a:r>
              <a:rPr sz="1300" b="1" dirty="0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 holidays.KR(years=2025)로 </a:t>
            </a:r>
            <a:r>
              <a:rPr sz="1300" b="1" dirty="0" err="1">
                <a:solidFill>
                  <a:srgbClr val="B45309"/>
                </a:solidFill>
                <a:latin typeface="G마켓 산스 TTF Bold" pitchFamily="2" charset="-127"/>
                <a:ea typeface="G마켓 산스 TTF Bold" pitchFamily="2" charset="-127"/>
              </a:rPr>
              <a:t>판별</a:t>
            </a:r>
            <a:endParaRPr sz="1300" b="1" dirty="0">
              <a:solidFill>
                <a:srgbClr val="B45309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1026" name="Picture 2" descr="Combined logo">
            <a:extLst>
              <a:ext uri="{FF2B5EF4-FFF2-40B4-BE49-F238E27FC236}">
                <a16:creationId xmlns:a16="http://schemas.microsoft.com/office/drawing/2014/main" id="{D91CF117-8488-4571-90F4-FCD121BF91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913" y="2498359"/>
            <a:ext cx="2009775" cy="67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ACA5CE3-4E73-413A-8B2F-80A4B3573D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7411" y="2409577"/>
            <a:ext cx="729178" cy="853839"/>
          </a:xfrm>
          <a:prstGeom prst="rect">
            <a:avLst/>
          </a:prstGeom>
        </p:spPr>
      </p:pic>
      <p:pic>
        <p:nvPicPr>
          <p:cNvPr id="1032" name="Picture 8" descr="NumPy - Press kit">
            <a:extLst>
              <a:ext uri="{FF2B5EF4-FFF2-40B4-BE49-F238E27FC236}">
                <a16:creationId xmlns:a16="http://schemas.microsoft.com/office/drawing/2014/main" id="{810C9FC2-6681-43BB-A59A-9899B4DF4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1520" y="2392816"/>
            <a:ext cx="887360" cy="887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52AD8C25-E8F4-4400-9CDD-FE990325E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3040" y="4585086"/>
            <a:ext cx="731520" cy="731520"/>
          </a:xfrm>
          <a:prstGeom prst="rect">
            <a:avLst/>
          </a:prstGeom>
        </p:spPr>
      </p:pic>
      <p:pic>
        <p:nvPicPr>
          <p:cNvPr id="33" name="그래픽 32">
            <a:extLst>
              <a:ext uri="{FF2B5EF4-FFF2-40B4-BE49-F238E27FC236}">
                <a16:creationId xmlns:a16="http://schemas.microsoft.com/office/drawing/2014/main" id="{4DD5442B-D21D-4040-BCCF-F50A9FBE17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87378" y="4633740"/>
            <a:ext cx="1569244" cy="634212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C8B8C14D-D768-4C32-8633-1B74DFC0225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16108" y="4805051"/>
            <a:ext cx="1213391" cy="29159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BCF75F6F-6204-4B48-B619-5BBAA3EE135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85564" y="4576779"/>
            <a:ext cx="785006" cy="748135"/>
          </a:xfrm>
          <a:prstGeom prst="rect">
            <a:avLst/>
          </a:prstGeom>
        </p:spPr>
      </p:pic>
      <p:pic>
        <p:nvPicPr>
          <p:cNvPr id="1036" name="Picture 12" descr="Streamlit logo on light background">
            <a:extLst>
              <a:ext uri="{FF2B5EF4-FFF2-40B4-BE49-F238E27FC236}">
                <a16:creationId xmlns:a16="http://schemas.microsoft.com/office/drawing/2014/main" id="{8298C621-C7B9-4DCD-92CA-3BF7A174C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4290" y="4636012"/>
            <a:ext cx="2268220" cy="629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2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6673" y="2620260"/>
            <a:ext cx="2243455" cy="4324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활용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9441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원본 구조와 분석에 사용한 핵심 특성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356616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endParaRPr sz="18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기상청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ASOS ·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서울</a:t>
            </a:r>
            <a:r>
              <a:rPr lang="ko-KR" altLang="en-US"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지점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108번</a:t>
            </a: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2025년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시간별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관측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8,760행</a:t>
            </a: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서울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지점의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시간별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2011680"/>
            <a:ext cx="35661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297680" y="2011680"/>
            <a:ext cx="3566160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80560" y="2286000"/>
            <a:ext cx="32004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endParaRPr sz="18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서울시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공공자전거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대여이력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2025년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대여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상세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이력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1월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파일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1,704,188행</a:t>
            </a:r>
          </a:p>
          <a:p>
            <a:pPr>
              <a:spcAft>
                <a:spcPts val="600"/>
              </a:spcAft>
            </a:pP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대여일시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기반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2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집계</a:t>
            </a:r>
            <a:endParaRPr sz="12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5661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046720" y="2011680"/>
            <a:ext cx="3566160" cy="10972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3200400" cy="14927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서울교통공사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2025년 역별·일별·시간대별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199,424행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승차 데이터 선택 후 역별 합산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86400"/>
            <a:ext cx="11094415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31520" y="5623560"/>
            <a:ext cx="1072865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※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원본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CSV는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cp949로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읽고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,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전처리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후 UTF-8-SIG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CSV로</a:t>
            </a:r>
            <a:r>
              <a:rPr sz="13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저장</a:t>
            </a:r>
            <a:endParaRPr sz="1300" b="1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전처리 및 통합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828800"/>
            <a:ext cx="22860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</a:p>
          <a:p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대여일시 →</a:t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1시간 단위 대여건수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29000" y="1828800"/>
            <a:ext cx="22860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</a:p>
          <a:p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승차만 선택 →</a:t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역별 합산 → melt()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172200" y="1828800"/>
            <a:ext cx="22860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</a:p>
          <a:p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시간별 관측값 →</a:t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동일 시간대 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16459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915400" y="1828800"/>
            <a:ext cx="2286000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공통 key</a:t>
            </a:r>
          </a:p>
          <a:p>
            <a:r>
              <a:rPr sz="12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날짜 + 시간대 →</a:t>
            </a:r>
            <a:br>
              <a:rPr>
                <a:latin typeface="G마켓 산스 TTF Bold" pitchFamily="2" charset="-127"/>
                <a:ea typeface="G마켓 산스 TTF Bold" pitchFamily="2" charset="-127"/>
              </a:rPr>
            </a:br>
            <a:r>
              <a:rPr>
                <a:latin typeface="G마켓 산스 TTF Bold" pitchFamily="2" charset="-127"/>
                <a:ea typeface="G마켓 산스 TTF Bold" pitchFamily="2" charset="-127"/>
              </a:rPr>
              <a:t>3개 데이터 merge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2960" y="3840480"/>
            <a:ext cx="4754880" cy="1267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06~23시만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사용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원본에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‘06시이전’과 ‘24시이후’처럼 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여러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시간을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하나로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묶은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컬럼이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있어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세부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대응할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없습니다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따라서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06-07 ~ 23-24만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공통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대상으로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사용했습니다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365760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0" y="3840480"/>
            <a:ext cx="4754880" cy="1066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주말·공휴일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제외</a:t>
            </a:r>
            <a:endParaRPr sz="16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평일과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주말·공휴일은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목적과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패턴이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다를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가능성이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크다고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가정해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,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기온-이용량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관계에서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요일·휴일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효과를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줄였습니다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02 활용데이터 및 전처리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최종 분석 데이터 형태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3891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023360" cy="2508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한 행 =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특정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날짜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×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특정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최종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컬럼</a:t>
            </a:r>
            <a:endParaRPr sz="14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2000"/>
              </a:spcAft>
            </a:pP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날짜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따릉이대여건수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지하철승차인원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</a:t>
            </a:r>
            <a:br>
              <a:rPr lang="en-US"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(°C)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요일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요일명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주말여부</a:t>
            </a:r>
            <a:r>
              <a:rPr sz="1200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200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공휴일여부</a:t>
            </a:r>
            <a:endParaRPr sz="1200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최종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endParaRPr sz="14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2,196개 </a:t>
            </a:r>
            <a:r>
              <a:rPr sz="13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공통</a:t>
            </a:r>
            <a:r>
              <a:rPr sz="13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날짜×시간대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→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평일·비공휴일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1,494개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관측값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→ 83일 × 18시간대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645920"/>
            <a:ext cx="652241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03520" y="1828800"/>
            <a:ext cx="615665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📊 실제 데이터셋 구조 예시 (1,494개 평일 관측 분석 데이터)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50CBB75-E3EF-4C2B-915E-F75780EB7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1786" y="2194560"/>
            <a:ext cx="3520122" cy="39538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03 기본 이용 패턴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시간대별 이용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114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749039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기온과의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관계를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보기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전에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효과를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분석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설계</a:t>
            </a:r>
            <a:endParaRPr sz="16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두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교통수단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모두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시간대에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따른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차이가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매우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큽니다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  <a:endParaRPr 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따라서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전체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상관분석에서는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효과와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효과가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섞일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있어</a:t>
            </a:r>
            <a:r>
              <a:rPr lang="en-US" sz="1700" dirty="0">
                <a:latin typeface="G마켓 산스 TTF Bold" pitchFamily="2" charset="-127"/>
                <a:ea typeface="G마켓 산스 TTF Bold" pitchFamily="2" charset="-127"/>
              </a:rPr>
              <a:t>,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endParaRPr lang="en-US" sz="1700" dirty="0"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이후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같은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시간대끼리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700" dirty="0" err="1">
                <a:latin typeface="G마켓 산스 TTF Bold" pitchFamily="2" charset="-127"/>
                <a:ea typeface="G마켓 산스 TTF Bold" pitchFamily="2" charset="-127"/>
              </a:rPr>
              <a:t>비교합니다</a:t>
            </a:r>
            <a:r>
              <a:rPr sz="1700"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645920"/>
            <a:ext cx="6796735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📊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[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시간대별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평균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대여건수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승차인원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교통수단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패턴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비교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그래프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]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(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기존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그래프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이미지를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복사하여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이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영역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위에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붙여넣으세요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2414FB4-C3B6-4688-9FFC-4968983D4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0900" y="2461869"/>
            <a:ext cx="6687574" cy="2940102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9035B26F-D264-4944-8E01-D4F8F0DBCF93}"/>
              </a:ext>
            </a:extLst>
          </p:cNvPr>
          <p:cNvSpPr/>
          <p:nvPr/>
        </p:nvSpPr>
        <p:spPr>
          <a:xfrm>
            <a:off x="5814323" y="3033286"/>
            <a:ext cx="826113" cy="115403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E7C8FAB-7A85-4CFB-BAD6-AB929DA312FA}"/>
              </a:ext>
            </a:extLst>
          </p:cNvPr>
          <p:cNvSpPr/>
          <p:nvPr/>
        </p:nvSpPr>
        <p:spPr>
          <a:xfrm>
            <a:off x="9176582" y="2730588"/>
            <a:ext cx="826113" cy="12754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전체 관측값의 상관관계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035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937760" cy="4252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1,494개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관측값을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한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번에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사용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교통수단별</a:t>
            </a:r>
            <a:r>
              <a:rPr sz="1400" b="1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상관계수</a:t>
            </a:r>
            <a:endParaRPr sz="14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2000"/>
              </a:spcAft>
            </a:pP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• Pearson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  -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: 0.423  | 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: 0.013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• Spearman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  -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: 0.463  | 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: 0.016</a:t>
            </a:r>
          </a:p>
          <a:p>
            <a:pPr>
              <a:spcAft>
                <a:spcPts val="2000"/>
              </a:spcAft>
            </a:pPr>
            <a:r>
              <a:rPr sz="13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해석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양(+)의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나타났지만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지하철은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전체적으로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거의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없습니다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  <a:p>
            <a:r>
              <a:rPr sz="12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주의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상관관계는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인과관계가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아닙니다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 </a:t>
            </a:r>
            <a:endParaRPr lang="en-US" dirty="0"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dirty="0">
                <a:latin typeface="G마켓 산스 TTF Bold" pitchFamily="2" charset="-127"/>
                <a:ea typeface="G마켓 산스 TTF Bold" pitchFamily="2" charset="-127"/>
              </a:rPr>
              <a:t>이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수치만으로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‘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기온이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이용량을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변화시켰다’고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단정할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없습니다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645920"/>
            <a:ext cx="5608015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📊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[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변수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간 Spearman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상관관계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히트맵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]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(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기존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그래프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이미지를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복사하여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이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영역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위에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붙여넣으세요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6368D89-AEA0-4256-848F-2DC2A4B61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8431" y="1765375"/>
            <a:ext cx="5541232" cy="433309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6C3163C-F3D1-4BB4-A8E0-8C7F13AFA5A9}"/>
              </a:ext>
            </a:extLst>
          </p:cNvPr>
          <p:cNvSpPr/>
          <p:nvPr/>
        </p:nvSpPr>
        <p:spPr>
          <a:xfrm>
            <a:off x="6095847" y="2093661"/>
            <a:ext cx="1723850" cy="398758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578815" y="1424978"/>
            <a:ext cx="11064240" cy="3825164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일별·시간대별로 관계 재확인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5322532"/>
            <a:ext cx="11064240" cy="142090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5322532"/>
            <a:ext cx="10080749" cy="1420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전체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상관관계가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구조에만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의해</a:t>
            </a:r>
            <a:r>
              <a:rPr lang="en-US"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나타난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것은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아닌지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① 일별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: 18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개의 시간대의 </a:t>
            </a:r>
            <a:r>
              <a:rPr lang="ko-KR" altLang="en-US"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이용량을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하루 단위로 묶어서 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83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일을 비교</a:t>
            </a:r>
            <a:endParaRPr lang="en-US" altLang="ko-KR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② 시간대별 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동일 시간대의 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83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일 자료만 묶어 </a:t>
            </a:r>
            <a:r>
              <a:rPr lang="ko-KR" altLang="en-US" sz="130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상관계수 확인</a:t>
            </a:r>
            <a:endParaRPr lang="ko-KR" altLang="en-US"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	③ </a:t>
            </a:r>
            <a:r>
              <a:rPr lang="en-US" altLang="ko-KR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18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개의 시간대의 상관관계 비교</a:t>
            </a:r>
            <a:endParaRPr lang="ko-KR" altLang="en-US" dirty="0"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30F03DF6-D37F-4C31-9395-E202BCAF9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238" y="1975937"/>
            <a:ext cx="5224241" cy="272324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7AF73CD8-822B-4345-BD00-7022BAE1E4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9070" y="3373755"/>
            <a:ext cx="3081770" cy="182887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F6F12FD7-11A5-4C36-AF0F-6934519253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7425" y="1472489"/>
            <a:ext cx="3081770" cy="18288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 구간별 이용 변화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4114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749039" cy="1738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절대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이용량과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상대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수준을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함께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0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이용지수란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?</a:t>
            </a:r>
          </a:p>
          <a:p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전체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평균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이용량을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100으로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두고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, 각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구간의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평소보다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높은지·낮은지를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상대적으로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나타낸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값입니다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  <a:r>
              <a:rPr lang="ko-KR" alt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교통수단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규모가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달라도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같은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기준으로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비교할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있습니다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645920"/>
            <a:ext cx="6796735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en-US" altLang="ko-KR" dirty="0"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C306047-7216-418B-A4B4-AE5806767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2181" y="1739120"/>
            <a:ext cx="5305012" cy="2765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576F03D-114C-4FAC-9632-816AE16EE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3107" y="4580484"/>
            <a:ext cx="3003553" cy="156566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99AF98E-EE84-44AD-9A78-51B438F071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7937" y="4580484"/>
            <a:ext cx="3003553" cy="156566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04 기온-이용량 관계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월 × 시간대 이용 패턴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478280"/>
            <a:ext cx="107286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상관계수와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별개로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계절·시간대의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기본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수준을</a:t>
            </a:r>
            <a:r>
              <a:rPr sz="14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확인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30022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749039" cy="2816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endParaRPr sz="14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400"/>
              </a:spcAft>
            </a:pPr>
            <a:r>
              <a:rPr sz="14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endParaRPr sz="14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해석</a:t>
            </a:r>
            <a:endParaRPr sz="1500" b="1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지하철은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월별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수준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차이가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상대적으로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작고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패턴이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반복</a:t>
            </a:r>
            <a: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,</a:t>
            </a: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br>
              <a:rPr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따릉이는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상대적으로</a:t>
            </a:r>
            <a:r>
              <a:rPr lang="en-US" dirty="0"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따뜻한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3월·6월에서 </a:t>
            </a:r>
            <a:br>
              <a:rPr lang="en-US"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같은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수준이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dirty="0">
                <a:latin typeface="G마켓 산스 TTF Bold" pitchFamily="2" charset="-127"/>
                <a:ea typeface="G마켓 산스 TTF Bold" pitchFamily="2" charset="-127"/>
              </a:rPr>
            </a:br>
            <a:r>
              <a:rPr dirty="0">
                <a:latin typeface="G마켓 산스 TTF Bold" pitchFamily="2" charset="-127"/>
                <a:ea typeface="G마켓 산스 TTF Bold" pitchFamily="2" charset="-127"/>
              </a:rPr>
              <a:t>더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높게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dirty="0" err="1">
                <a:latin typeface="G마켓 산스 TTF Bold" pitchFamily="2" charset="-127"/>
                <a:ea typeface="G마켓 산스 TTF Bold" pitchFamily="2" charset="-127"/>
              </a:rPr>
              <a:t>나타납니다</a:t>
            </a:r>
            <a:r>
              <a:rPr dirty="0"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33800" y="2011680"/>
            <a:ext cx="7909255" cy="448056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35B603EE-3EA9-4583-ACDD-C2BD235F8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143" y="4315864"/>
            <a:ext cx="5484569" cy="2122703"/>
          </a:xfrm>
          <a:prstGeom prst="rect">
            <a:avLst/>
          </a:prstGeom>
        </p:spPr>
      </p:pic>
      <p:grpSp>
        <p:nvGrpSpPr>
          <p:cNvPr id="11" name="그룹 10"/>
          <p:cNvGrpSpPr/>
          <p:nvPr/>
        </p:nvGrpSpPr>
        <p:grpSpPr>
          <a:xfrm>
            <a:off x="4946143" y="2118360"/>
            <a:ext cx="5484569" cy="2135605"/>
            <a:chOff x="4946143" y="2118360"/>
            <a:chExt cx="5484569" cy="2135605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F31155EF-F50E-4832-BBE1-3E07B8984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46143" y="2118360"/>
              <a:ext cx="5484569" cy="2135605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4A04F97-8380-4EC5-B5C8-321735D48ABB}"/>
                </a:ext>
              </a:extLst>
            </p:cNvPr>
            <p:cNvSpPr/>
            <p:nvPr/>
          </p:nvSpPr>
          <p:spPr>
            <a:xfrm>
              <a:off x="5279845" y="2574974"/>
              <a:ext cx="826113" cy="1154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G마켓 산스 TTF Bold" pitchFamily="2" charset="-127"/>
                <a:ea typeface="G마켓 산스 TTF Bold" pitchFamily="2" charset="-127"/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E89B6BAA-71ED-4DB4-AFD3-E0F738FF31D7}"/>
                </a:ext>
              </a:extLst>
            </p:cNvPr>
            <p:cNvSpPr/>
            <p:nvPr/>
          </p:nvSpPr>
          <p:spPr>
            <a:xfrm>
              <a:off x="7920596" y="2567941"/>
              <a:ext cx="826113" cy="1154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G마켓 산스 TTF Bold" pitchFamily="2" charset="-127"/>
                <a:ea typeface="G마켓 산스 TTF Bold" pitchFamily="2" charset="-127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91440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05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9144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이동수단별 기온 반응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109441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1516380"/>
            <a:ext cx="4594860" cy="506349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00100" y="1699260"/>
            <a:ext cx="3749039" cy="2749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endParaRPr sz="15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2000"/>
              </a:spcAft>
            </a:pP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기온과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이용량의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양(+)의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상대적으로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뚜렷</a:t>
            </a:r>
            <a:endParaRPr sz="1300" dirty="0">
              <a:solidFill>
                <a:srgbClr val="0F172A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endParaRPr sz="15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2400"/>
              </a:spcAft>
            </a:pP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기온과의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약하고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300" dirty="0" err="1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영향이</a:t>
            </a:r>
            <a:r>
              <a:rPr sz="1300" dirty="0">
                <a:solidFill>
                  <a:srgbClr val="0F172A"/>
                </a:solidFill>
                <a:latin typeface="G마켓 산스 TTF Bold" pitchFamily="2" charset="-127"/>
                <a:ea typeface="G마켓 산스 TTF Bold" pitchFamily="2" charset="-127"/>
              </a:rPr>
              <a:t> 더 큼</a:t>
            </a:r>
          </a:p>
          <a:p>
            <a:pPr>
              <a:spcAft>
                <a:spcPts val="600"/>
              </a:spcAft>
            </a:pPr>
            <a:r>
              <a:rPr sz="15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주의</a:t>
            </a:r>
            <a:endParaRPr sz="15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‘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기온이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원인’이라는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뜻이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아니라</a:t>
            </a:r>
            <a:br>
              <a:rPr lang="en-US"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데이터에서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관찰된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관계의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차이를</a:t>
            </a:r>
            <a:r>
              <a:rPr sz="1200" b="1" dirty="0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64748B"/>
                </a:solidFill>
                <a:latin typeface="G마켓 산스 TTF Bold" pitchFamily="2" charset="-127"/>
                <a:ea typeface="G마켓 산스 TTF Bold" pitchFamily="2" charset="-127"/>
              </a:rPr>
              <a:t>의미</a:t>
            </a:r>
            <a:endParaRPr sz="1200" b="1" dirty="0">
              <a:solidFill>
                <a:srgbClr val="64748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63540" y="1516380"/>
            <a:ext cx="6179515" cy="5082540"/>
          </a:xfrm>
          <a:prstGeom prst="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dirty="0">
              <a:latin typeface="G마켓 산스 TTF Bold" pitchFamily="2" charset="-127"/>
              <a:ea typeface="G마켓 산스 TTF Bold" pitchFamily="2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7D3F1F4-08C1-4152-B72D-073AF6535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277" y="1588770"/>
            <a:ext cx="4130041" cy="245097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F7FC9E07-CDE5-460B-8C20-206F8F942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8277" y="4089561"/>
            <a:ext cx="4130041" cy="245097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결론 · 기대효과 · 한계 및 향후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94415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10728655" cy="82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최종</a:t>
            </a:r>
            <a:r>
              <a:rPr sz="1600" b="1" dirty="0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결론</a:t>
            </a:r>
            <a:endParaRPr sz="1600" b="1" dirty="0">
              <a:solidFill>
                <a:srgbClr val="15803D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따릉이는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시간대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효과가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강한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가운데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기온과도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비교적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일관된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양(+)의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관계가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나타났고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, </a:t>
            </a:r>
            <a:br>
              <a:rPr lang="en-US" altLang="en-US"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지하철은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기온보다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시간대에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따른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이용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패턴의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방향과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강도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변화가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더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크게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나타났습니다</a:t>
            </a:r>
            <a:r>
              <a:rPr sz="14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4068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5074920" cy="2780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기대효과</a:t>
            </a:r>
            <a:r>
              <a:rPr sz="1600" b="1" dirty="0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6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활용방향</a:t>
            </a:r>
            <a:endParaRPr sz="16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학문적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의의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기온과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서울시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이동수단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이용량의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관계를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		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기반으로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확인하는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기초자료</a:t>
            </a:r>
            <a:endParaRPr lang="en-US"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endParaRPr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산업적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가치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기온에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따른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이용수요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변화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파악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		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→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운영·수요관리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참고자료</a:t>
            </a:r>
            <a:endParaRPr lang="en-US"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endParaRPr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정책적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활용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기상환경을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고려한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교통수요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관리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		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공공자전거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운영정책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참고자료</a:t>
            </a:r>
            <a:endParaRPr lang="en-US"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endParaRPr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•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사회적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파급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: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기상환경을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고려한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효율적인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		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도시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교통·공공교통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서비스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운영에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기여</a:t>
            </a:r>
            <a:endParaRPr sz="1200" b="1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02375" y="2651760"/>
            <a:ext cx="5440680" cy="31089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85255" y="2743200"/>
            <a:ext cx="5074920" cy="160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한계</a:t>
            </a:r>
            <a:r>
              <a:rPr sz="1600" b="1" dirty="0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 / </a:t>
            </a:r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향후</a:t>
            </a:r>
            <a:r>
              <a:rPr sz="1600" b="1" dirty="0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확장</a:t>
            </a:r>
            <a:endParaRPr sz="16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400"/>
              </a:spcAft>
            </a:pP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2025년 3·6·9·12월,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평일·비공휴일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중심의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탐색적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분석입니다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. </a:t>
            </a:r>
            <a:br>
              <a:rPr lang="en-US"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향후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연중·다년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데이터와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강수·풍속·미세먼지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등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추가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변수를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포함하고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회귀분석으로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기온의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독립적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영향을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검증한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뒤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수요예측으로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확장할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수 </a:t>
            </a:r>
            <a:r>
              <a:rPr sz="1200" b="1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있습니다</a:t>
            </a:r>
            <a:r>
              <a:rPr sz="1200" b="1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.</a:t>
            </a:r>
          </a:p>
          <a:p>
            <a:pPr algn="ctr"/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상관관계</a:t>
            </a:r>
            <a:r>
              <a:rPr sz="1600" b="1" dirty="0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 ≠ </a:t>
            </a:r>
            <a:r>
              <a:rPr sz="1600" b="1" dirty="0" err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인과관계</a:t>
            </a:r>
            <a:endParaRPr sz="1600" b="1" dirty="0">
              <a:solidFill>
                <a:srgbClr val="F59E0B"/>
              </a:solidFill>
              <a:latin typeface="G마켓 산스 TTF Bold" pitchFamily="2" charset="-127"/>
              <a:ea typeface="G마켓 산스 TTF Bold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참고자료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365760"/>
            <a:ext cx="10972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94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활용 데이터 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661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200400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F59E0B"/>
                </a:solidFill>
                <a:latin typeface="G마켓 산스 TTF Bold" pitchFamily="2" charset="-127"/>
                <a:ea typeface="G마켓 산스 TTF Bold" pitchFamily="2" charset="-127"/>
              </a:rPr>
              <a:t>기온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기관 및 성격</a:t>
            </a:r>
          </a:p>
          <a:p>
            <a:pPr>
              <a:spcAft>
                <a:spcPts val="1400"/>
              </a:spcAft>
            </a:pPr>
            <a:r>
              <a:rPr sz="110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기상청 ASOS · 서울 108번 지점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데이터 수집 링크</a:t>
            </a:r>
          </a:p>
          <a:p>
            <a:r>
              <a:rPr sz="900" u="sng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https://data.seoul.go.kr/dataList/OA-15182/F/1/datasetView.do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5661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1828800"/>
            <a:ext cx="3566160" cy="109728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480560" y="2194560"/>
            <a:ext cx="3200400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>
                <a:solidFill>
                  <a:srgbClr val="15803D"/>
                </a:solidFill>
                <a:latin typeface="G마켓 산스 TTF Bold" pitchFamily="2" charset="-127"/>
                <a:ea typeface="G마켓 산스 TTF Bold" pitchFamily="2" charset="-127"/>
              </a:rPr>
              <a:t>따릉이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기관 및 성격</a:t>
            </a:r>
          </a:p>
          <a:p>
            <a:pPr>
              <a:spcAft>
                <a:spcPts val="1400"/>
              </a:spcAft>
            </a:pPr>
            <a:r>
              <a:rPr sz="110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서울시 공공자전거 대여이력 정보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데이터 수집 링크</a:t>
            </a:r>
          </a:p>
          <a:p>
            <a:r>
              <a:rPr sz="900" u="sng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https://data.seoul.go.kr/dataList/OA-15182/F/1/datasetView.do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828800"/>
            <a:ext cx="356616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046720" y="1828800"/>
            <a:ext cx="3566160" cy="10972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G마켓 산스 TTF Bold" pitchFamily="2" charset="-127"/>
              <a:ea typeface="G마켓 산스 TTF Bold" pitchFamily="2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60"/>
            <a:ext cx="32004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dirty="0" err="1">
                <a:solidFill>
                  <a:srgbClr val="1E40AF"/>
                </a:solidFill>
                <a:latin typeface="G마켓 산스 TTF Bold" pitchFamily="2" charset="-127"/>
                <a:ea typeface="G마켓 산스 TTF Bold" pitchFamily="2" charset="-127"/>
              </a:rPr>
              <a:t>지하철</a:t>
            </a:r>
            <a:endParaRPr sz="1800" b="1" dirty="0">
              <a:solidFill>
                <a:srgbClr val="1E40A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기관</a:t>
            </a:r>
            <a:r>
              <a:rPr sz="12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및 </a:t>
            </a: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성격</a:t>
            </a:r>
            <a:endParaRPr sz="1200" b="1" dirty="0">
              <a:solidFill>
                <a:srgbClr val="FFFFF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1400"/>
              </a:spcAft>
            </a:pP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서울교통공사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역별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일별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시간대별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br>
              <a:rPr lang="en-US"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</a:b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승하차인원</a:t>
            </a:r>
            <a:r>
              <a:rPr sz="1100" dirty="0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100" dirty="0" err="1">
                <a:solidFill>
                  <a:srgbClr val="E2E8F0"/>
                </a:solidFill>
                <a:latin typeface="G마켓 산스 TTF Bold" pitchFamily="2" charset="-127"/>
                <a:ea typeface="G마켓 산스 TTF Bold" pitchFamily="2" charset="-127"/>
              </a:rPr>
              <a:t>정보</a:t>
            </a:r>
            <a:endParaRPr sz="1100" dirty="0">
              <a:solidFill>
                <a:srgbClr val="E2E8F0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pPr>
              <a:spcAft>
                <a:spcPts val="400"/>
              </a:spcAft>
            </a:pP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데이터</a:t>
            </a:r>
            <a:r>
              <a:rPr sz="12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수집</a:t>
            </a:r>
            <a:r>
              <a:rPr sz="1200" b="1" dirty="0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G마켓 산스 TTF Bold" pitchFamily="2" charset="-127"/>
                <a:ea typeface="G마켓 산스 TTF Bold" pitchFamily="2" charset="-127"/>
              </a:rPr>
              <a:t>링크</a:t>
            </a:r>
            <a:endParaRPr sz="1200" b="1" dirty="0">
              <a:solidFill>
                <a:srgbClr val="FFFFFF"/>
              </a:solidFill>
              <a:latin typeface="G마켓 산스 TTF Bold" pitchFamily="2" charset="-127"/>
              <a:ea typeface="G마켓 산스 TTF Bold" pitchFamily="2" charset="-127"/>
            </a:endParaRPr>
          </a:p>
          <a:p>
            <a:r>
              <a:rPr sz="900" u="sng" dirty="0">
                <a:solidFill>
                  <a:srgbClr val="94A3B8"/>
                </a:solidFill>
                <a:latin typeface="G마켓 산스 TTF Bold" pitchFamily="2" charset="-127"/>
                <a:ea typeface="G마켓 산스 TTF Bold" pitchFamily="2" charset="-127"/>
              </a:rPr>
              <a:t>https://data.seoul.go.kr/dataList/OA-12921/F/1/datasetView.do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1999</Words>
  <Application>Microsoft Office PowerPoint</Application>
  <PresentationFormat>와이드스크린</PresentationFormat>
  <Paragraphs>351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G마켓 산스 TTF Bold</vt:lpstr>
      <vt:lpstr>Noto Sans CJK KR</vt:lpstr>
      <vt:lpstr>나눔바른고딕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SBA</dc:creator>
  <dc:description>generated using python-pptx</dc:description>
  <cp:lastModifiedBy>SBA</cp:lastModifiedBy>
  <cp:revision>34</cp:revision>
  <dcterms:created xsi:type="dcterms:W3CDTF">2013-01-27T09:14:16Z</dcterms:created>
  <dcterms:modified xsi:type="dcterms:W3CDTF">2026-08-14T02:23:13Z</dcterms:modified>
</cp:coreProperties>
</file>