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744" y="-3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ACD47-2D6E-491F-9C5C-C14CEB6860A9}" type="datetimeFigureOut">
              <a:rPr lang="ko-KR" altLang="en-US" smtClean="0"/>
              <a:t>2026-08-14-Fri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65D7FC-5967-45DE-8A6B-F659BDA757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74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8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74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055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따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릉이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lang="ko-KR" altLang="en-US" sz="4400" b="1" dirty="0">
              <a:solidFill>
                <a:schemeClr val="bg1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lang="ko-KR" altLang="en-US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기온이 오르면 서울 시민의 이동수단 이용은 어떻게 달라지는가</a:t>
            </a:r>
            <a:r>
              <a:rPr lang="en-US" altLang="ko-KR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발표자 </a:t>
            </a:r>
            <a:r>
              <a:rPr lang="en-US" altLang="ko-KR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권태윤</a:t>
            </a:r>
            <a:endParaRPr lang="en-US" sz="14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SeSAC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| 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AI서비스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운영을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위한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클라우드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엔지니어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과정</a:t>
            </a:r>
            <a:endParaRPr sz="1200" dirty="0">
              <a:solidFill>
                <a:srgbClr val="94A3B8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발표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73736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목표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문제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대응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기획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8036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활용데이터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및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ASOS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정합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93776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173736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대중교통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8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상관분석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구간별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승차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추이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6404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  <a:p>
            <a:pPr algn="ctr"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도출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제언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944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문제 제기  →  데이터  →  전처리  →  기본 패턴  →  관계 분석  →  결론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왜 기온과 이동수단을 비교했는가?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관심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최근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여름철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고온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이동에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미치는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영향에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관심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493776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 관점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• 따릉이 = 외부 환경에 직접 노출</a:t>
            </a:r>
          </a:p>
          <a:p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• 지하철 = 상대적으로 실내 이동수단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846320" cy="2149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8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질문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3000"/>
              </a:spcAft>
            </a:pP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변화에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어떻게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달라지는가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교통수단의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반응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차이’를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비교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 이용 패턴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월별·시간대별 이용량 구조를 먼저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 이용량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이용량이 어떻게 달라지는지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관계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같은 시간대 안에서 기온과 이용량의 관계를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 비교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따릉이와 지하철의 기온 반응 차이를 확인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Python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전처리·분석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VS Code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프로젝트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개발환경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Jupyter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Notebook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EDA 및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2918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83280" y="3840480"/>
            <a:ext cx="23774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pandas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CSV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처리·집계·merge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65367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NumPy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연산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0350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matplotlib / seaborn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시각화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69680" y="1828800"/>
            <a:ext cx="23774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smtClean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holidays.KR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공휴일·대체공휴일</a:t>
            </a:r>
            <a:r>
              <a:rPr sz="16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7782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696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Streamlit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대시보드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94415" cy="7315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특이사항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: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한국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공휴일·대체공휴일은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holidays.KR(years=2025)로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sz="1300" b="1" dirty="0">
              <a:solidFill>
                <a:srgbClr val="B45309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26" name="Picture 2" descr="Combined logo">
            <a:extLst>
              <a:ext uri="{FF2B5EF4-FFF2-40B4-BE49-F238E27FC236}">
                <a16:creationId xmlns="" xmlns:a16="http://schemas.microsoft.com/office/drawing/2014/main" id="{D91CF117-8488-4571-90F4-FCD121BF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3" y="2498359"/>
            <a:ext cx="2009775" cy="6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그림 27">
            <a:extLst>
              <a:ext uri="{FF2B5EF4-FFF2-40B4-BE49-F238E27FC236}">
                <a16:creationId xmlns="" xmlns:a16="http://schemas.microsoft.com/office/drawing/2014/main" id="{FACA5CE3-4E73-413A-8B2F-80A4B3573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7411" y="2409577"/>
            <a:ext cx="729178" cy="853839"/>
          </a:xfrm>
          <a:prstGeom prst="rect">
            <a:avLst/>
          </a:prstGeom>
        </p:spPr>
      </p:pic>
      <p:pic>
        <p:nvPicPr>
          <p:cNvPr id="1032" name="Picture 8" descr="NumPy - Press kit">
            <a:extLst>
              <a:ext uri="{FF2B5EF4-FFF2-40B4-BE49-F238E27FC236}">
                <a16:creationId xmlns="" xmlns:a16="http://schemas.microsoft.com/office/drawing/2014/main" id="{810C9FC2-6681-43BB-A59A-9899B4DF4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520" y="2392816"/>
            <a:ext cx="887360" cy="887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>
            <a:extLst>
              <a:ext uri="{FF2B5EF4-FFF2-40B4-BE49-F238E27FC236}">
                <a16:creationId xmlns="" xmlns:a16="http://schemas.microsoft.com/office/drawing/2014/main" id="{52AD8C25-E8F4-4400-9CDD-FE990325E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4585086"/>
            <a:ext cx="731520" cy="731520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="" xmlns:a16="http://schemas.microsoft.com/office/drawing/2014/main" id="{4DD5442B-D21D-4040-BCCF-F50A9FBE17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87378" y="4633740"/>
            <a:ext cx="1569244" cy="634212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="" xmlns:a16="http://schemas.microsoft.com/office/drawing/2014/main" id="{C8B8C14D-D768-4C32-8633-1B74DFC022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16108" y="4805051"/>
            <a:ext cx="1213391" cy="29159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="" xmlns:a16="http://schemas.microsoft.com/office/drawing/2014/main" id="{BCF75F6F-6204-4B48-B619-5BBAA3EE135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5564" y="4576779"/>
            <a:ext cx="785006" cy="748135"/>
          </a:xfrm>
          <a:prstGeom prst="rect">
            <a:avLst/>
          </a:prstGeom>
        </p:spPr>
      </p:pic>
      <p:pic>
        <p:nvPicPr>
          <p:cNvPr id="1036" name="Picture 12" descr="Streamlit logo on light background">
            <a:extLst>
              <a:ext uri="{FF2B5EF4-FFF2-40B4-BE49-F238E27FC236}">
                <a16:creationId xmlns="" xmlns:a16="http://schemas.microsoft.com/office/drawing/2014/main" id="{8298C621-C7B9-4DCD-92CA-3BF7A174C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290" y="4636012"/>
            <a:ext cx="2268220" cy="629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6673" y="2620260"/>
            <a:ext cx="2243455" cy="432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원본 구조와 분석에 사용한 핵심 특성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기상청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ASOS ·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lang="ko-KR" altLang="en-US"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108번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관측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8,760행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8056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8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1월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파일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1,704,188행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집계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서울교통공사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역별·일별·시간대별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199,424행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승차 데이터 선택 후 역별 합산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※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원본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CSV는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cp949로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읽고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후 UTF-8-SIG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CSV로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저장</a:t>
            </a:r>
            <a:endParaRPr sz="13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 및 통합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1시간 단위 대여건수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290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승차만 선택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역별 합산 → melt()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722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 관측값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동일 시간대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 key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날짜 + 시간대 →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3개 데이터 merge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06~23시만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원본에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‘06시이전’과 ‘24시이후’처럼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여러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하나로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묶은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세부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대응할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06-07 ~ 23-24만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사용했습니다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4754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주말·공휴일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제외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평일과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주말·공휴일은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목적과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다를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가능성이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크다고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가정해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관계에서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요일·휴일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줄였습니다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 분석 데이터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023360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한 행 =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×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따릉이대여건수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지하철승차인원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</a:t>
            </a:r>
            <a:r>
              <a:rPr lang="en-US"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(°C)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요일명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주말여부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공휴일여부</a:t>
            </a:r>
            <a:endParaRPr sz="12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2,196개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날짜×시간대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1,494개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관측값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83일 × 18시간대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6522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3520" y="1828800"/>
            <a:ext cx="6156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📊 실제 데이터셋 구조 예시 (1,494개 평일 관측 분석 데이터)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="" xmlns:a16="http://schemas.microsoft.com/office/drawing/2014/main" id="{050CBB75-E3EF-4C2B-915E-F75780EB7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786" y="2194560"/>
            <a:ext cx="3520122" cy="3953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 기본 이용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보기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전에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설계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모두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매우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큽니다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상관분석에서는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섞일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lang="en-US" sz="1700" dirty="0">
                <a:latin typeface="G마켓 산스 TTF Bold" pitchFamily="2" charset="-127"/>
                <a:ea typeface="G마켓 산스 TTF Bold" pitchFamily="2" charset="-127"/>
              </a:rPr>
              <a:t>,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700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이후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시간대끼리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비교합니다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대여건수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승차인원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비교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02414FB4-C3B6-4688-9FFC-4968983D4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900" y="2461869"/>
            <a:ext cx="6687574" cy="294010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="" xmlns:a16="http://schemas.microsoft.com/office/drawing/2014/main" id="{9035B26F-D264-4944-8E01-D4F8F0DBCF93}"/>
              </a:ext>
            </a:extLst>
          </p:cNvPr>
          <p:cNvSpPr/>
          <p:nvPr/>
        </p:nvSpPr>
        <p:spPr>
          <a:xfrm>
            <a:off x="5814323" y="3033286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="" xmlns:a16="http://schemas.microsoft.com/office/drawing/2014/main" id="{DE7C8FAB-7A85-4CFB-BAD6-AB929DA312FA}"/>
              </a:ext>
            </a:extLst>
          </p:cNvPr>
          <p:cNvSpPr/>
          <p:nvPr/>
        </p:nvSpPr>
        <p:spPr>
          <a:xfrm>
            <a:off x="9176582" y="2730588"/>
            <a:ext cx="826113" cy="12754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 관측값의 상관관계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252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1,494개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관측값을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번에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교통수단별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Pearson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0.423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0.013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• Spearman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0.463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0.016</a:t>
            </a:r>
          </a:p>
          <a:p>
            <a:pPr>
              <a:spcAft>
                <a:spcPts val="2000"/>
              </a:spcAft>
            </a:pP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나타났지만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전체적으로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거의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r>
              <a:rPr sz="12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인과관계가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아닙니다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 </a:t>
            </a:r>
            <a:endParaRPr lang="en-US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dirty="0">
                <a:latin typeface="G마켓 산스 TTF Bold" pitchFamily="2" charset="-127"/>
                <a:ea typeface="G마켓 산스 TTF Bold" pitchFamily="2" charset="-127"/>
              </a:rPr>
              <a:t>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수치만으로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변화시켰다’고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단정할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60801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간 Spearman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히트맵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A6368D89-AEA0-4256-848F-2DC2A4B61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31" y="1765375"/>
            <a:ext cx="5541232" cy="433309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="" xmlns:a16="http://schemas.microsoft.com/office/drawing/2014/main" id="{C6C3163C-F3D1-4BB4-A8E0-8C7F13AFA5A9}"/>
              </a:ext>
            </a:extLst>
          </p:cNvPr>
          <p:cNvSpPr/>
          <p:nvPr/>
        </p:nvSpPr>
        <p:spPr>
          <a:xfrm>
            <a:off x="6095847" y="2093661"/>
            <a:ext cx="1723850" cy="39875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변수가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함께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움직이는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정도와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방향을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-1 ~ +1로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표현합니다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Pearson</a:t>
            </a: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0.423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0.013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Spearman</a:t>
            </a: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0.463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0.016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242255" cy="928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</a:p>
          <a:p>
            <a:r>
              <a:rPr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따릉이는 양(+)의 관계가 나타났지만</a:t>
            </a:r>
            <a:r>
              <a:rPr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지하철은 전체적으로 거의 관계가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023360"/>
            <a:ext cx="560801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4206240"/>
            <a:ext cx="5242255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</a:p>
          <a:p>
            <a:r>
              <a:rPr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상관관계는 인과관계가 아닙니다. 이 수치만으로 ‘기온이 이용량을 변화시켰다’고 단정할 수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815" y="1424978"/>
            <a:ext cx="11064240" cy="3825164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일별·시간대별로 관계 재확인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5322532"/>
            <a:ext cx="11064240" cy="14209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22532"/>
            <a:ext cx="10080749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상관관계가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구조에만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의해</a:t>
            </a:r>
            <a: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나타난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것은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아닌지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① 일별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: 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</a:t>
            </a:r>
            <a:r>
              <a:rPr lang="ko-KR" altLang="en-US"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하루 단위로 묶어서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일을 비교</a:t>
            </a:r>
            <a:endParaRPr lang="en-US" altLang="ko-KR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② 시간대별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동일 시간대의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 자료만 묶어 상관계수 계사</a:t>
            </a:r>
          </a:p>
          <a:p>
            <a:pPr>
              <a:spcAft>
                <a:spcPts val="1000"/>
              </a:spcAft>
            </a:pP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③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상관관계 비교</a:t>
            </a:r>
            <a:endParaRPr lang="ko-KR" altLang="en-US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="" xmlns:a16="http://schemas.microsoft.com/office/drawing/2014/main" id="{30F03DF6-D37F-4C31-9395-E202BCAF9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38" y="1975937"/>
            <a:ext cx="5224241" cy="272324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="" xmlns:a16="http://schemas.microsoft.com/office/drawing/2014/main" id="{7AF73CD8-822B-4345-BD00-7022BAE1E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9070" y="3373755"/>
            <a:ext cx="3081770" cy="182887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="" xmlns:a16="http://schemas.microsoft.com/office/drawing/2014/main" id="{F6F12FD7-11A5-4C36-AF0F-693451925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7425" y="1472489"/>
            <a:ext cx="3081770" cy="1828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 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절대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이용량과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함께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이용지수란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100으로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 각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구간의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평소보다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높은지·낮은지를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나타낸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값입니다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규모가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달라도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기준으로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비교할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en-US" altLang="ko-KR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5C306047-7216-418B-A4B4-AE5806767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181" y="1739120"/>
            <a:ext cx="5305012" cy="2765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="" xmlns:a16="http://schemas.microsoft.com/office/drawing/2014/main" id="{1576F03D-114C-4FAC-9632-816AE16EE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107" y="4580484"/>
            <a:ext cx="3003553" cy="15656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="" xmlns:a16="http://schemas.microsoft.com/office/drawing/2014/main" id="{899AF98E-EE84-44AD-9A78-51B438F07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7937" y="4580484"/>
            <a:ext cx="3003553" cy="15656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월 × 시간대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478280"/>
            <a:ext cx="10728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상관계수와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별개로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계절·시간대의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00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749039" cy="281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4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endParaRPr sz="15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수준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작고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반복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따뜻한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3월·6월에서 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수준이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더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높게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나타납니다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33800" y="2011680"/>
            <a:ext cx="7909255" cy="4480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="" xmlns:a16="http://schemas.microsoft.com/office/drawing/2014/main" id="{35B603EE-3EA9-4583-ACDD-C2BD235F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43" y="4315864"/>
            <a:ext cx="5484569" cy="2122703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4946143" y="2118360"/>
            <a:ext cx="5484569" cy="2135605"/>
            <a:chOff x="4946143" y="2118360"/>
            <a:chExt cx="5484569" cy="2135605"/>
          </a:xfrm>
        </p:grpSpPr>
        <p:pic>
          <p:nvPicPr>
            <p:cNvPr id="12" name="그림 11">
              <a:extLst>
                <a:ext uri="{FF2B5EF4-FFF2-40B4-BE49-F238E27FC236}">
                  <a16:creationId xmlns="" xmlns:a16="http://schemas.microsoft.com/office/drawing/2014/main" id="{F31155EF-F50E-4832-BBE1-3E07B8984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6143" y="2118360"/>
              <a:ext cx="5484569" cy="213560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="" xmlns:a16="http://schemas.microsoft.com/office/drawing/2014/main" id="{44A04F97-8380-4EC5-B5C8-321735D48ABB}"/>
                </a:ext>
              </a:extLst>
            </p:cNvPr>
            <p:cNvSpPr/>
            <p:nvPr/>
          </p:nvSpPr>
          <p:spPr>
            <a:xfrm>
              <a:off x="5279845" y="2574974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="" xmlns:a16="http://schemas.microsoft.com/office/drawing/2014/main" id="{E89B6BAA-71ED-4DB4-AFD3-E0F738FF31D7}"/>
                </a:ext>
              </a:extLst>
            </p:cNvPr>
            <p:cNvSpPr/>
            <p:nvPr/>
          </p:nvSpPr>
          <p:spPr>
            <a:xfrm>
              <a:off x="7920596" y="2567941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이동수단별 기온 반응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516380"/>
            <a:ext cx="4594860" cy="50634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0100" y="1699260"/>
            <a:ext cx="3749039" cy="274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5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뚜렷</a:t>
            </a:r>
            <a:endParaRPr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5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4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약하고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영향이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더 큼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endParaRPr sz="15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‘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원인’이라는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뜻이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아니라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데이터에서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관찰된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관계의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차이를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의미</a:t>
            </a:r>
            <a:endParaRPr sz="12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63540" y="1516380"/>
            <a:ext cx="6179515" cy="508254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A7D3F1F4-08C1-4152-B72D-073AF6535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277" y="1588770"/>
            <a:ext cx="4130041" cy="245097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="" xmlns:a16="http://schemas.microsoft.com/office/drawing/2014/main" id="{F7FC9E07-CDE5-460B-8C20-206F8F942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77" y="4089561"/>
            <a:ext cx="4130041" cy="24509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결론 · 기대효과 · 한계 및 향후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9441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가운데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기온과도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비교적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일관된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나타났고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r>
              <a:rPr lang="en-US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기온보다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패턴의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방향과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더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크게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나타났습니다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74920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활용방향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학문적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의의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이동수단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기반으로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확인하는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기초자료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산업적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가치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운영·수요관리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활용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운영정책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사회적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파급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효율적인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도시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교통·공공교통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서비스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기여</a:t>
            </a: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2375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5255" y="2743200"/>
            <a:ext cx="5074920" cy="160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2025년 3·6·9·12월,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중심의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탐색적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분석입니다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 </a:t>
            </a: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연중·다년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강수·풍속·미세먼지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추가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변수를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포함하고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회귀분석으로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독립적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영향을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검증한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뒤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수요예측으로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확장할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pPr algn="ctr"/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≠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인과관계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활용 데이터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기상청 ASOS · 서울 108번 지점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 공공자전거 대여이력 정보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8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성격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서울교통공사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역별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일별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/>
            </a:r>
            <a:br>
              <a:rPr lang="en-US"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승하차인원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endParaRPr sz="1100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수집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링크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900" u="sng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https://data.seoul.go.kr/dataList/OA-12921/F/1/datasetView.do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678</Words>
  <Application>Microsoft Office PowerPoint</Application>
  <PresentationFormat>사용자 지정</PresentationFormat>
  <Paragraphs>209</Paragraphs>
  <Slides>17</Slides>
  <Notes>3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18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SBA</dc:creator>
  <dc:description>generated using python-pptx</dc:description>
  <cp:lastModifiedBy>yoon</cp:lastModifiedBy>
  <cp:revision>23</cp:revision>
  <dcterms:created xsi:type="dcterms:W3CDTF">2013-01-27T09:14:16Z</dcterms:created>
  <dcterms:modified xsi:type="dcterms:W3CDTF">2026-08-13T19:14:36Z</dcterms:modified>
</cp:coreProperties>
</file>